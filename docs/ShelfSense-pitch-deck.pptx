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70" r:id="rId20"/>
    <p:sldId id="269" r:id="rId19"/>
    <p:sldId id="271" r:id="rId21"/>
  </p:sldIdLst>
  <p:sldSz cy="5143500" cx="9144000"/>
  <p:notesSz cx="6858000" cy="9144000"/>
  <p:embeddedFontLst>
    <p:embeddedFont>
      <p:font typeface="Google Sans Flex Medium"/>
      <p:regular r:id="rId22"/>
      <p:bold r:id="rId23"/>
    </p:embeddedFont>
    <p:embeddedFont>
      <p:font typeface="Google Sans Flex"/>
      <p:regular r:id="rId24"/>
      <p:bold r:id="rId25"/>
    </p:embeddedFont>
    <p:embeddedFont>
      <p:font typeface="Google Sans Flex SemiBold"/>
      <p:regular r:id="rId26"/>
      <p:bold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?>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font" Target="fonts/GoogleSansFlexMedium-regular.fntdata"/><Relationship Id="rId21" Type="http://schemas.openxmlformats.org/officeDocument/2006/relationships/slide" Target="slides/slide16.xml"/><Relationship Id="rId24" Type="http://schemas.openxmlformats.org/officeDocument/2006/relationships/font" Target="fonts/GoogleSansFlex-regular.fntdata"/><Relationship Id="rId23" Type="http://schemas.openxmlformats.org/officeDocument/2006/relationships/font" Target="fonts/GoogleSansFlexMedium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GoogleSansFlexSemiBold-regular.fntdata"/><Relationship Id="rId25" Type="http://schemas.openxmlformats.org/officeDocument/2006/relationships/font" Target="fonts/GoogleSansFlex-bold.fntdata"/><Relationship Id="rId27" Type="http://schemas.openxmlformats.org/officeDocument/2006/relationships/font" Target="fonts/GoogleSansFlexSemiBold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fb085bff3c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fb085bff3c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fb085bff3c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fb085bff3c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fb085bff3c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fb085bff3c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fb085bff3c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fb085bff3c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fb085bff3c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fb085bff3c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fb085bff3c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fb085bff3c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fb085bff3c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fb085bff3c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fb085bff3c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fb085bff3c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fb085bff3c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3fb085bff3c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fb085bff3c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fb085bff3c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fb085bff3c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3fb085bff3c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fb085bff3c_0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3fb085bff3c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fb085bff3c_0_1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3fb085bff3c_0_1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fb085bff3c_0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3fb085bff3c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Relationship Id="rId4" Type="http://schemas.openxmlformats.org/officeDocument/2006/relationships/image" Target="../media/image2.png"/><Relationship Id="rId5" Type="http://schemas.openxmlformats.org/officeDocument/2006/relationships/image" Target="../media/shelfsense1.png"/><Relationship Id="rId6" Type="http://schemas.openxmlformats.org/officeDocument/2006/relationships/image" Target="../media/shelfsense2.png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Relationship Id="rId4" Type="http://schemas.openxmlformats.org/officeDocument/2006/relationships/image" Target="../media/image2.png"/><Relationship Id="rId5" Type="http://schemas.openxmlformats.org/officeDocument/2006/relationships/image" Target="../media/shelfsens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Relationship Id="rId4" Type="http://schemas.openxmlformats.org/officeDocument/2006/relationships/image" Target="../media/image2.png"/><Relationship Id="rId5" Type="http://schemas.openxmlformats.org/officeDocument/2006/relationships/image" Target="../media/shelfsense4.png"/><Relationship Id="rId6" Type="http://schemas.openxmlformats.org/officeDocument/2006/relationships/image" Target="../media/shelfsense5.png"/><Relationship Id="rId7" Type="http://schemas.openxmlformats.org/officeDocument/2006/relationships/image" Target="../media/shelfsense6.png"/><Relationship Id="rId8" Type="http://schemas.openxmlformats.org/officeDocument/2006/relationships/image" Target="../media/shelfsense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png"/><Relationship Id="rId4" Type="http://schemas.openxmlformats.org/officeDocument/2006/relationships/image" Target="../media/image2.png"/><Relationship Id="rId5" Type="http://schemas.openxmlformats.org/officeDocument/2006/relationships/hyperlink" Target="https://github.com/MohsiinShah/ShelfSense" TargetMode="External"/><Relationship Id="rId6" Type="http://schemas.openxmlformats.org/officeDocument/2006/relationships/hyperlink" Target="https://youtu.be/9HP-f7Th4XY" TargetMode="External"/><Relationship Id="rId7" Type="http://schemas.openxmlformats.org/officeDocument/2006/relationships/hyperlink" Target="https://shelfsense-demo.web.app" TargetMode="Externa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146600" y="2902694"/>
            <a:ext cx="8760000" cy="200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Team Details</a:t>
            </a:r>
            <a:endParaRPr sz="2100">
              <a:latin typeface="Google Sans Flex SemiBold"/>
              <a:ea typeface="Google Sans Flex SemiBold"/>
              <a:cs typeface="Google Sans Flex SemiBold"/>
              <a:sym typeface="Google Sans Flex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Font typeface="Google Sans Flex"/>
              <a:buAutoNum type="alphaLcPeriod"/>
            </a:pPr>
            <a:r>
              <a:rPr lang="en-GB" sz="1800">
                <a:latin typeface="Google Sans Flex"/>
                <a:ea typeface="Google Sans Flex"/>
                <a:cs typeface="Google Sans Flex"/>
                <a:sym typeface="Google Sans Flex"/>
              </a:rPr>
              <a:t>Team name: </a:t>
            </a:r>
            <a:endParaRPr sz="1800"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Font typeface="Google Sans Flex"/>
              <a:buAutoNum type="alphaLcPeriod"/>
            </a:pPr>
            <a:r>
              <a:rPr lang="en-GB" sz="1800">
                <a:latin typeface="Google Sans Flex"/>
                <a:ea typeface="Google Sans Flex"/>
                <a:cs typeface="Google Sans Flex"/>
                <a:sym typeface="Google Sans Flex"/>
              </a:rPr>
              <a:t>Team leader name: </a:t>
            </a:r>
            <a:endParaRPr sz="1800"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Font typeface="Google Sans Flex"/>
              <a:buAutoNum type="alphaLcPeriod"/>
            </a:pPr>
            <a:r>
              <a:rPr lang="en-GB" sz="1800">
                <a:latin typeface="Google Sans Flex"/>
                <a:ea typeface="Google Sans Flex"/>
                <a:cs typeface="Google Sans Flex"/>
                <a:sym typeface="Google Sans Flex"/>
              </a:rPr>
              <a:t>Problem Statement: Shelf space is priced by position, not by how many shoppers actually see it.</a:t>
            </a:r>
            <a:endParaRPr sz="1800"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pic>
        <p:nvPicPr>
          <p:cNvPr id="55" name="Google Shape;55;p13" title="Frame 14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3"/>
            <a:ext cx="9144000" cy="2715526"/>
          </a:xfrm>
          <a:prstGeom prst="rect">
            <a:avLst/>
          </a:prstGeom>
          <a:noFill/>
          <a:ln>
            <a:noFill/>
          </a:ln>
        </p:spPr>
      </p:pic>
      <p:pic>
        <p:nvPicPr>
          <p:cNvPr id="56" name="Google Shape;56;p13" title="Frame 144.png"/>
          <p:cNvPicPr preferRelativeResize="0"/>
          <p:nvPr/>
        </p:nvPicPr>
        <p:blipFill rotWithShape="1">
          <a:blip r:embed="rId4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p15" title="Group 427319979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15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15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Brief about the idea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1001" name="Idea 1001"/>
          <p:cNvSpPr txBox="1"/>
          <p:nvPr/>
        </p:nvSpPr>
        <p:spPr>
          <a:xfrm>
            <a:off x="347472" y="1188720"/>
            <a:ext cx="5074920" cy="3566160"/>
          </a:xfrm>
          <a:prstGeom prst="rect">
            <a:avLst/>
          </a:prstGeom>
          <a:noFill/>
          <a:ln>
            <a:noFill/>
          </a:ln>
        </p:spPr>
        <p:txBody>
          <a:bodyPr wrap="square" lIns="73152" tIns="73152" rIns="73152" bIns="73152" anchor="t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200"/>
              </a:spcAft>
              <a:buNone/>
            </a:pPr>
            <a:r>
              <a:rPr lang="en-GB" sz="2200" dirty="0">
                <a:solidFill>
                  <a:srgbClr val="1F2937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 xml:space="preserve">ShelfSense</a:t>
            </a:r>
          </a:p>
          <a:p>
            <a:pPr marL="0" indent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300" dirty="0">
                <a:solidFill>
                  <a:srgbClr val="0F766E"/>
                </a:solidFill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 xml:space="preserve">AI that turns a store's existing CCTV into a price tag for every shelf.</a:t>
            </a:r>
          </a:p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GB" sz="1100" dirty="0">
                <a:solidFill>
                  <a:srgbClr val="5B6474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 xml:space="preserve">Brands pay retailers for end-caps, eye-level slots and promotional bays, but that space is priced by position and negotiation. A shelf passed by 2,000 shoppers a day can cost the same as one passed by 200.</a:t>
            </a:r>
          </a:p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GB" sz="1100" dirty="0">
                <a:solidFill>
                  <a:srgbClr val="5B6474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 xml:space="preserve">ShelfSense sends store camera clips to Gemini, which measures for every shelf zone who walks past, who stops, who reaches for a product, how long they stay and their approximate age band. Those counts become a Shelf Value Index (0–100) and a suggested monthly rent. An AI assistant answers questions like “Which shelf reaches the most 18–35 shoppers on weekend evenings?”</a:t>
            </a:r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 dirty="0">
                <a:solidFill>
                  <a:srgbClr val="1F2937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 xml:space="preserve">Live today: </a:t>
            </a:r>
            <a:r>
              <a:rPr lang="en-GB" sz="1100" dirty="0">
                <a:solidFill>
                  <a:srgbClr val="0F766E"/>
                </a:solidFill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 xml:space="preserve">https://shelfsense-demo.web.app</a:t>
            </a:r>
          </a:p>
        </p:txBody>
      </p:sp>
      <p:sp>
        <p:nvSpPr>
          <p:cNvPr id="1002" name="Panel 1002"/>
          <p:cNvSpPr txBox="1"/>
          <p:nvPr/>
        </p:nvSpPr>
        <p:spPr>
          <a:xfrm>
            <a:off x="5715000" y="1188720"/>
            <a:ext cx="3081528" cy="3566160"/>
          </a:xfrm>
          <a:prstGeom prst="roundRect">
            <a:avLst>
              <a:gd name="adj" fmla="val 5000"/>
            </a:avLst>
          </a:prstGeom>
          <a:solidFill>
            <a:srgbClr val="E6F4F1"/>
          </a:solidFill>
          <a:ln>
            <a:noFill/>
          </a:ln>
        </p:spPr>
        <p:txBody>
          <a:bodyPr wrap="square" lIns="73152" tIns="73152" rIns="73152" bIns="73152" anchor="t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400"/>
              </a:spcAft>
              <a:buNone/>
            </a:pPr>
            <a:r>
              <a:rPr lang="en-GB" sz="1200" dirty="0">
                <a:solidFill>
                  <a:srgbClr val="1F2937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 xml:space="preserve"/>
            </a:r>
          </a:p>
        </p:txBody>
      </p:sp>
      <p:sp>
        <p:nvSpPr>
          <p:cNvPr id="1003" name="Stat 1003"/>
          <p:cNvSpPr txBox="1"/>
          <p:nvPr/>
        </p:nvSpPr>
        <p:spPr>
          <a:xfrm>
            <a:off x="5943600" y="1325880"/>
            <a:ext cx="2743200" cy="96012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600" dirty="0">
                <a:solidFill>
                  <a:srgbClr val="0F766E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 xml:space="preserve">5.2 s</a:t>
            </a:r>
          </a:p>
          <a:p>
            <a:pPr marL="0" indent="0" algn="l">
              <a:spcBef>
                <a:spcPts val="0"/>
              </a:spcBef>
              <a:spcAft>
                <a:spcPts val="100"/>
              </a:spcAft>
              <a:buNone/>
            </a:pPr>
            <a:r>
              <a:rPr lang="en-GB" sz="1000" dirty="0">
                <a:solidFill>
                  <a:srgbClr val="1F2937"/>
                </a:solidFill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 xml:space="preserve">to analyse a store clip with Gemini</a:t>
            </a:r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50" dirty="0">
                <a:solidFill>
                  <a:srgbClr val="5B6474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 xml:space="preserve">median of 12 live runs</a:t>
            </a:r>
          </a:p>
        </p:txBody>
      </p:sp>
      <p:sp>
        <p:nvSpPr>
          <p:cNvPr id="1004" name="Stat 1004"/>
          <p:cNvSpPr txBox="1"/>
          <p:nvPr/>
        </p:nvSpPr>
        <p:spPr>
          <a:xfrm>
            <a:off x="5943600" y="2423160"/>
            <a:ext cx="2743200" cy="96012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600" dirty="0">
                <a:solidFill>
                  <a:srgbClr val="0F766E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 xml:space="preserve">4 → 12</a:t>
            </a:r>
          </a:p>
          <a:p>
            <a:pPr marL="0" indent="0" algn="l">
              <a:spcBef>
                <a:spcPts val="0"/>
              </a:spcBef>
              <a:spcAft>
                <a:spcPts val="100"/>
              </a:spcAft>
              <a:buNone/>
            </a:pPr>
            <a:r>
              <a:rPr lang="en-GB" sz="1000" dirty="0">
                <a:solidFill>
                  <a:srgbClr val="1F2937"/>
                </a:solidFill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 xml:space="preserve">cameras → priced shelf zones</a:t>
            </a:r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50" dirty="0">
                <a:solidFill>
                  <a:srgbClr val="5B6474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 xml:space="preserve">in the live demo store</a:t>
            </a:r>
          </a:p>
        </p:txBody>
      </p:sp>
      <p:sp>
        <p:nvSpPr>
          <p:cNvPr id="1005" name="Stat 1005"/>
          <p:cNvSpPr txBox="1"/>
          <p:nvPr/>
        </p:nvSpPr>
        <p:spPr>
          <a:xfrm>
            <a:off x="5943600" y="3520440"/>
            <a:ext cx="2743200" cy="96012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600" dirty="0">
                <a:solidFill>
                  <a:srgbClr val="0F766E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 xml:space="preserve">0</a:t>
            </a:r>
          </a:p>
          <a:p>
            <a:pPr marL="0" indent="0" algn="l">
              <a:spcBef>
                <a:spcPts val="0"/>
              </a:spcBef>
              <a:spcAft>
                <a:spcPts val="100"/>
              </a:spcAft>
              <a:buNone/>
            </a:pPr>
            <a:r>
              <a:rPr lang="en-GB" sz="1000" dirty="0">
                <a:solidFill>
                  <a:srgbClr val="1F2937"/>
                </a:solidFill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 xml:space="preserve">faces or identities stored</a:t>
            </a:r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50" dirty="0">
                <a:solidFill>
                  <a:srgbClr val="5B6474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 xml:space="preserve">only anonymous counts reach Firestore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Google Shape;76;p16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7" name="Google Shape;77;p16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16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6" name="Title 1006"/>
          <p:cNvSpPr txBox="1"/>
          <p:nvPr/>
        </p:nvSpPr>
        <p:spPr>
          <a:xfrm>
            <a:off x="242316" y="603504"/>
            <a:ext cx="8138160" cy="457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 anchor="t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400"/>
              </a:spcAft>
              <a:buNone/>
            </a:pPr>
            <a:r>
              <a:rPr lang="en-GB" sz="1600" dirty="0">
                <a:solidFill>
                  <a:srgbClr val="1F2937"/>
                </a:solidFill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 xml:space="preserve">Opportunities</a:t>
            </a:r>
          </a:p>
        </p:txBody>
      </p:sp>
      <p:sp>
        <p:nvSpPr>
          <p:cNvPr id="1007" name="Card 1007"/>
          <p:cNvSpPr txBox="1"/>
          <p:nvPr/>
        </p:nvSpPr>
        <p:spPr>
          <a:xfrm>
            <a:off x="347472" y="1234440"/>
            <a:ext cx="2679192" cy="2331720"/>
          </a:xfrm>
          <a:prstGeom prst="roundRect">
            <a:avLst>
              <a:gd name="adj" fmla="val 6000"/>
            </a:avLst>
          </a:prstGeom>
          <a:solidFill>
            <a:srgbClr val="F5F7F9"/>
          </a:solidFill>
          <a:ln>
            <a:noFill/>
          </a:ln>
        </p:spPr>
        <p:txBody>
          <a:bodyPr wrap="square" lIns="109728" tIns="109728" rIns="109728" bIns="109728" anchor="t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200"/>
              </a:spcAft>
              <a:buNone/>
            </a:pPr>
            <a:r>
              <a:rPr lang="en-GB" sz="850" dirty="0">
                <a:solidFill>
                  <a:srgbClr val="0F766E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 xml:space="preserve">HOW IS IT DIFFERENT?</a:t>
            </a:r>
          </a:p>
          <a:p>
            <a:pPr marL="0" indent="0" algn="l">
              <a:spcBef>
                <a:spcPts val="0"/>
              </a:spcBef>
              <a:spcAft>
                <a:spcPts val="400"/>
              </a:spcAft>
              <a:buNone/>
            </a:pPr>
            <a:r>
              <a:rPr lang="en-GB" sz="1200" dirty="0">
                <a:solidFill>
                  <a:srgbClr val="1F2937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 xml:space="preserve">Prices the shelf, not the store</a:t>
            </a:r>
          </a:p>
          <a:p>
            <a:pPr marL="0" indent="0" algn="l">
              <a:spcBef>
                <a:spcPts val="0"/>
              </a:spcBef>
              <a:spcAft>
                <a:spcPts val="300"/>
              </a:spcAft>
              <a:buNone/>
            </a:pPr>
            <a:r>
              <a:rPr lang="en-GB" sz="1100" dirty="0">
                <a:solidFill>
                  <a:srgbClr val="5B6474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 xml:space="preserve">Footfall counters (ShopperTrak, RetailNext) count the store entrance.</a:t>
            </a:r>
          </a:p>
          <a:p>
            <a:pPr marL="0" indent="0" algn="l">
              <a:spcBef>
                <a:spcPts val="0"/>
              </a:spcBef>
              <a:spcAft>
                <a:spcPts val="300"/>
              </a:spcAft>
              <a:buNone/>
            </a:pPr>
            <a:r>
              <a:rPr lang="en-GB" sz="1100" dirty="0">
                <a:solidFill>
                  <a:srgbClr val="5B6474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 xml:space="preserve">Shelf recognition (Trax) checks stock and planograms.</a:t>
            </a:r>
          </a:p>
          <a:p>
            <a:pPr marL="0" indent="0" algn="l">
              <a:spcBef>
                <a:spcPts val="0"/>
              </a:spcBef>
              <a:spcAft>
                <a:spcPts val="300"/>
              </a:spcAft>
              <a:buNone/>
            </a:pPr>
            <a:r>
              <a:rPr lang="en-GB" sz="1100" dirty="0">
                <a:solidFill>
                  <a:srgbClr val="5B6474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 xml:space="preserve">ShelfSense measures who sees each shelf and outputs a price.</a:t>
            </a:r>
          </a:p>
        </p:txBody>
      </p:sp>
      <p:sp>
        <p:nvSpPr>
          <p:cNvPr id="1008" name="Card 1008"/>
          <p:cNvSpPr txBox="1"/>
          <p:nvPr/>
        </p:nvSpPr>
        <p:spPr>
          <a:xfrm>
            <a:off x="3246120" y="1234440"/>
            <a:ext cx="2679192" cy="2331720"/>
          </a:xfrm>
          <a:prstGeom prst="roundRect">
            <a:avLst>
              <a:gd name="adj" fmla="val 6000"/>
            </a:avLst>
          </a:prstGeom>
          <a:solidFill>
            <a:srgbClr val="F5F7F9"/>
          </a:solidFill>
          <a:ln>
            <a:noFill/>
          </a:ln>
        </p:spPr>
        <p:txBody>
          <a:bodyPr wrap="square" lIns="109728" tIns="109728" rIns="109728" bIns="109728" anchor="t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200"/>
              </a:spcAft>
              <a:buNone/>
            </a:pPr>
            <a:r>
              <a:rPr lang="en-GB" sz="850" dirty="0">
                <a:solidFill>
                  <a:srgbClr val="0F766E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 xml:space="preserve">HOW DOES IT SOLVE IT?</a:t>
            </a:r>
          </a:p>
          <a:p>
            <a:pPr marL="0" indent="0" algn="l">
              <a:spcBef>
                <a:spcPts val="0"/>
              </a:spcBef>
              <a:spcAft>
                <a:spcPts val="400"/>
              </a:spcAft>
              <a:buNone/>
            </a:pPr>
            <a:r>
              <a:rPr lang="en-GB" sz="1200" dirty="0">
                <a:solidFill>
                  <a:srgbClr val="1F2937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 xml:space="preserve">Attention becomes a number</a:t>
            </a:r>
          </a:p>
          <a:p>
            <a:pPr marL="0" indent="0" algn="l">
              <a:spcBef>
                <a:spcPts val="0"/>
              </a:spcBef>
              <a:spcAft>
                <a:spcPts val="300"/>
              </a:spcAft>
              <a:buNone/>
            </a:pPr>
            <a:r>
              <a:rPr lang="en-GB" sz="1100" dirty="0">
                <a:solidFill>
                  <a:srgbClr val="5B6474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 xml:space="preserve">Gemini turns camera footage into per-zone visitors, stops, reaches, dwell and age mix.</a:t>
            </a:r>
          </a:p>
          <a:p>
            <a:pPr marL="0" indent="0" algn="l">
              <a:spcBef>
                <a:spcPts val="0"/>
              </a:spcBef>
              <a:spcAft>
                <a:spcPts val="300"/>
              </a:spcAft>
              <a:buNone/>
            </a:pPr>
            <a:r>
              <a:rPr lang="en-GB" sz="1100" dirty="0">
                <a:solidFill>
                  <a:srgbClr val="5B6474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 xml:space="preserve">The SVI blends them; rent = base rate × SVI ÷ store median.</a:t>
            </a:r>
          </a:p>
          <a:p>
            <a:pPr marL="0" indent="0" algn="l">
              <a:spcBef>
                <a:spcPts val="0"/>
              </a:spcBef>
              <a:spcAft>
                <a:spcPts val="300"/>
              </a:spcAft>
              <a:buNone/>
            </a:pPr>
            <a:r>
              <a:rPr lang="en-GB" sz="1100" dirty="0">
                <a:solidFill>
                  <a:srgbClr val="5B6474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 xml:space="preserve">Brands get proof of what a placement delivered.</a:t>
            </a:r>
          </a:p>
        </p:txBody>
      </p:sp>
      <p:sp>
        <p:nvSpPr>
          <p:cNvPr id="1009" name="Card 1009"/>
          <p:cNvSpPr txBox="1"/>
          <p:nvPr/>
        </p:nvSpPr>
        <p:spPr>
          <a:xfrm>
            <a:off x="6144768" y="1234440"/>
            <a:ext cx="2679192" cy="2331720"/>
          </a:xfrm>
          <a:prstGeom prst="roundRect">
            <a:avLst>
              <a:gd name="adj" fmla="val 6000"/>
            </a:avLst>
          </a:prstGeom>
          <a:solidFill>
            <a:srgbClr val="F5F7F9"/>
          </a:solidFill>
          <a:ln>
            <a:noFill/>
          </a:ln>
        </p:spPr>
        <p:txBody>
          <a:bodyPr wrap="square" lIns="109728" tIns="109728" rIns="109728" bIns="109728" anchor="t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200"/>
              </a:spcAft>
              <a:buNone/>
            </a:pPr>
            <a:r>
              <a:rPr lang="en-GB" sz="850" dirty="0">
                <a:solidFill>
                  <a:srgbClr val="0F766E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 xml:space="preserve">USP</a:t>
            </a:r>
          </a:p>
          <a:p>
            <a:pPr marL="0" indent="0" algn="l">
              <a:spcBef>
                <a:spcPts val="0"/>
              </a:spcBef>
              <a:spcAft>
                <a:spcPts val="400"/>
              </a:spcAft>
              <a:buNone/>
            </a:pPr>
            <a:r>
              <a:rPr lang="en-GB" sz="1200" dirty="0">
                <a:solidFill>
                  <a:srgbClr val="1F2937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 xml:space="preserve">Existing cameras, privacy-first</a:t>
            </a:r>
          </a:p>
          <a:p>
            <a:pPr marL="0" indent="0" algn="l">
              <a:spcBef>
                <a:spcPts val="0"/>
              </a:spcBef>
              <a:spcAft>
                <a:spcPts val="300"/>
              </a:spcAft>
              <a:buNone/>
            </a:pPr>
            <a:r>
              <a:rPr lang="en-GB" sz="1100" dirty="0">
                <a:solidFill>
                  <a:srgbClr val="5B6474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 xml:space="preserve">No new hardware for the prototype: any store clip works.</a:t>
            </a:r>
          </a:p>
          <a:p>
            <a:pPr marL="0" indent="0" algn="l">
              <a:spcBef>
                <a:spcPts val="0"/>
              </a:spcBef>
              <a:spcAft>
                <a:spcPts val="300"/>
              </a:spcAft>
              <a:buNone/>
            </a:pPr>
            <a:r>
              <a:rPr lang="en-GB" sz="1100" dirty="0">
                <a:solidFill>
                  <a:srgbClr val="5B6474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 xml:space="preserve">Audience-aware pricing: the same shelf is worth more to the brand whose shoppers walk past it.</a:t>
            </a:r>
          </a:p>
          <a:p>
            <a:pPr marL="0" indent="0" algn="l">
              <a:spcBef>
                <a:spcPts val="0"/>
              </a:spcBef>
              <a:spcAft>
                <a:spcPts val="300"/>
              </a:spcAft>
              <a:buNone/>
            </a:pPr>
            <a:r>
              <a:rPr lang="en-GB" sz="1100" dirty="0">
                <a:solidFill>
                  <a:srgbClr val="5B6474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 xml:space="preserve">Only anonymous counts are kept; video is deleted after analysis.</a:t>
            </a:r>
          </a:p>
        </p:txBody>
      </p:sp>
      <p:sp>
        <p:nvSpPr>
          <p:cNvPr id="1010" name="Market 1010"/>
          <p:cNvSpPr txBox="1"/>
          <p:nvPr/>
        </p:nvSpPr>
        <p:spPr>
          <a:xfrm>
            <a:off x="347472" y="3730752"/>
            <a:ext cx="8449055" cy="777240"/>
          </a:xfrm>
          <a:prstGeom prst="roundRect">
            <a:avLst>
              <a:gd name="adj" fmla="val 8000"/>
            </a:avLst>
          </a:prstGeom>
          <a:solidFill>
            <a:srgbClr val="E6F4F1"/>
          </a:solidFill>
          <a:ln>
            <a:noFill/>
          </a:ln>
        </p:spPr>
        <p:txBody>
          <a:bodyPr wrap="square" lIns="128016" tIns="128016" rIns="128016" bIns="128016" anchor="ctr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300"/>
              </a:spcAft>
              <a:buNone/>
            </a:pPr>
            <a:r>
              <a:rPr lang="en-GB" sz="1100" dirty="0">
                <a:solidFill>
                  <a:srgbClr val="0F766E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 xml:space="preserve">Market  </a:t>
            </a:r>
            <a:r>
              <a:rPr lang="en-GB" sz="1050" dirty="0">
                <a:solidFill>
                  <a:srgbClr val="1F2937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 xml:space="preserve">Modern retail chains in Pakistan (hypermarkets, supermarkets, pharmacies) and the FMCG brands that rent their shelves.</a:t>
            </a:r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 dirty="0">
                <a:solidFill>
                  <a:srgbClr val="0F766E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 xml:space="preserve">Model  </a:t>
            </a:r>
            <a:r>
              <a:rPr lang="en-GB" sz="1050" dirty="0">
                <a:solidFill>
                  <a:srgbClr val="1F2937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 xml:space="preserve">Retailers pay a per-store subscription to price their space; brands pay for reach and audience reports on their placements.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7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7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7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7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List of features offered by the solution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1011" name="Card 1011"/>
          <p:cNvSpPr txBox="1"/>
          <p:nvPr/>
        </p:nvSpPr>
        <p:spPr>
          <a:xfrm>
            <a:off x="347472" y="1234440"/>
            <a:ext cx="2679192" cy="1572768"/>
          </a:xfrm>
          <a:prstGeom prst="roundRect">
            <a:avLst>
              <a:gd name="adj" fmla="val 6000"/>
            </a:avLst>
          </a:prstGeom>
          <a:solidFill>
            <a:srgbClr val="F5F7F9"/>
          </a:solidFill>
          <a:ln>
            <a:noFill/>
          </a:ln>
        </p:spPr>
        <p:txBody>
          <a:bodyPr wrap="square" lIns="109728" tIns="109728" rIns="109728" bIns="109728" anchor="t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200"/>
              </a:spcAft>
              <a:buNone/>
            </a:pPr>
            <a:r>
              <a:rPr lang="en-GB" sz="850" dirty="0">
                <a:solidFill>
                  <a:srgbClr val="0F766E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 xml:space="preserve">01</a:t>
            </a:r>
          </a:p>
          <a:p>
            <a:pPr marL="0" indent="0" algn="l">
              <a:spcBef>
                <a:spcPts val="0"/>
              </a:spcBef>
              <a:spcAft>
                <a:spcPts val="400"/>
              </a:spcAft>
              <a:buNone/>
            </a:pPr>
            <a:r>
              <a:rPr lang="en-GB" sz="1200" dirty="0">
                <a:solidFill>
                  <a:srgbClr val="1F2937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 xml:space="preserve">Video → shelf metrics</a:t>
            </a:r>
          </a:p>
          <a:p>
            <a:pPr marL="0" indent="0" algn="l">
              <a:spcBef>
                <a:spcPts val="0"/>
              </a:spcBef>
              <a:spcAft>
                <a:spcPts val="300"/>
              </a:spcAft>
              <a:buNone/>
            </a:pPr>
            <a:r>
              <a:rPr lang="en-GB" sz="1100" dirty="0">
                <a:solidFill>
                  <a:srgbClr val="5B6474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 xml:space="preserve">Gemini 3 Flash watches a clip and returns visitors, stops, reaches, dwell, age bands and a timestamped event log per zone.</a:t>
            </a:r>
          </a:p>
        </p:txBody>
      </p:sp>
      <p:sp>
        <p:nvSpPr>
          <p:cNvPr id="1012" name="Card 1012"/>
          <p:cNvSpPr txBox="1"/>
          <p:nvPr/>
        </p:nvSpPr>
        <p:spPr>
          <a:xfrm>
            <a:off x="3246120" y="1234440"/>
            <a:ext cx="2679192" cy="1572768"/>
          </a:xfrm>
          <a:prstGeom prst="roundRect">
            <a:avLst>
              <a:gd name="adj" fmla="val 6000"/>
            </a:avLst>
          </a:prstGeom>
          <a:solidFill>
            <a:srgbClr val="F5F7F9"/>
          </a:solidFill>
          <a:ln>
            <a:noFill/>
          </a:ln>
        </p:spPr>
        <p:txBody>
          <a:bodyPr wrap="square" lIns="109728" tIns="109728" rIns="109728" bIns="109728" anchor="t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200"/>
              </a:spcAft>
              <a:buNone/>
            </a:pPr>
            <a:r>
              <a:rPr lang="en-GB" sz="850" dirty="0">
                <a:solidFill>
                  <a:srgbClr val="0F766E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 xml:space="preserve">02</a:t>
            </a:r>
          </a:p>
          <a:p>
            <a:pPr marL="0" indent="0" algn="l">
              <a:spcBef>
                <a:spcPts val="0"/>
              </a:spcBef>
              <a:spcAft>
                <a:spcPts val="400"/>
              </a:spcAft>
              <a:buNone/>
            </a:pPr>
            <a:r>
              <a:rPr lang="en-GB" sz="1200" dirty="0">
                <a:solidFill>
                  <a:srgbClr val="1F2937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 xml:space="preserve">Shelf Value Index</a:t>
            </a:r>
          </a:p>
          <a:p>
            <a:pPr marL="0" indent="0" algn="l">
              <a:spcBef>
                <a:spcPts val="0"/>
              </a:spcBef>
              <a:spcAft>
                <a:spcPts val="300"/>
              </a:spcAft>
              <a:buNone/>
            </a:pPr>
            <a:r>
              <a:rPr lang="en-GB" sz="1100" dirty="0">
                <a:solidFill>
                  <a:srgbClr val="5B6474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 xml:space="preserve">0.40 footfall + 0.25 stop rate + 0.20 reach + 0.15 dwell, robust-normalised within the store.</a:t>
            </a:r>
          </a:p>
        </p:txBody>
      </p:sp>
      <p:sp>
        <p:nvSpPr>
          <p:cNvPr id="1013" name="Card 1013"/>
          <p:cNvSpPr txBox="1"/>
          <p:nvPr/>
        </p:nvSpPr>
        <p:spPr>
          <a:xfrm>
            <a:off x="6144768" y="1234440"/>
            <a:ext cx="2679192" cy="1572768"/>
          </a:xfrm>
          <a:prstGeom prst="roundRect">
            <a:avLst>
              <a:gd name="adj" fmla="val 6000"/>
            </a:avLst>
          </a:prstGeom>
          <a:solidFill>
            <a:srgbClr val="F5F7F9"/>
          </a:solidFill>
          <a:ln>
            <a:noFill/>
          </a:ln>
        </p:spPr>
        <p:txBody>
          <a:bodyPr wrap="square" lIns="109728" tIns="109728" rIns="109728" bIns="109728" anchor="t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200"/>
              </a:spcAft>
              <a:buNone/>
            </a:pPr>
            <a:r>
              <a:rPr lang="en-GB" sz="850" dirty="0">
                <a:solidFill>
                  <a:srgbClr val="0F766E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 xml:space="preserve">03</a:t>
            </a:r>
          </a:p>
          <a:p>
            <a:pPr marL="0" indent="0" algn="l">
              <a:spcBef>
                <a:spcPts val="0"/>
              </a:spcBef>
              <a:spcAft>
                <a:spcPts val="400"/>
              </a:spcAft>
              <a:buNone/>
            </a:pPr>
            <a:r>
              <a:rPr lang="en-GB" sz="1200" dirty="0">
                <a:solidFill>
                  <a:srgbClr val="1F2937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 xml:space="preserve">Suggested rent</a:t>
            </a:r>
          </a:p>
          <a:p>
            <a:pPr marL="0" indent="0" algn="l">
              <a:spcBef>
                <a:spcPts val="0"/>
              </a:spcBef>
              <a:spcAft>
                <a:spcPts val="300"/>
              </a:spcAft>
              <a:buNone/>
            </a:pPr>
            <a:r>
              <a:rPr lang="en-GB" sz="1100" dirty="0">
                <a:solidFill>
                  <a:srgbClr val="5B6474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 xml:space="preserve">Base rate × SVI ÷ store median SVI, with a 40% floor. Sortable ranking with CSV export.</a:t>
            </a:r>
          </a:p>
        </p:txBody>
      </p:sp>
      <p:sp>
        <p:nvSpPr>
          <p:cNvPr id="1014" name="Card 1014"/>
          <p:cNvSpPr txBox="1"/>
          <p:nvPr/>
        </p:nvSpPr>
        <p:spPr>
          <a:xfrm>
            <a:off x="347472" y="2990088"/>
            <a:ext cx="2679192" cy="1572768"/>
          </a:xfrm>
          <a:prstGeom prst="roundRect">
            <a:avLst>
              <a:gd name="adj" fmla="val 6000"/>
            </a:avLst>
          </a:prstGeom>
          <a:solidFill>
            <a:srgbClr val="F5F7F9"/>
          </a:solidFill>
          <a:ln>
            <a:noFill/>
          </a:ln>
        </p:spPr>
        <p:txBody>
          <a:bodyPr wrap="square" lIns="109728" tIns="109728" rIns="109728" bIns="109728" anchor="t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200"/>
              </a:spcAft>
              <a:buNone/>
            </a:pPr>
            <a:r>
              <a:rPr lang="en-GB" sz="850" dirty="0">
                <a:solidFill>
                  <a:srgbClr val="0F766E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 xml:space="preserve">04</a:t>
            </a:r>
          </a:p>
          <a:p>
            <a:pPr marL="0" indent="0" algn="l">
              <a:spcBef>
                <a:spcPts val="0"/>
              </a:spcBef>
              <a:spcAft>
                <a:spcPts val="400"/>
              </a:spcAft>
              <a:buNone/>
            </a:pPr>
            <a:r>
              <a:rPr lang="en-GB" sz="1200" dirty="0">
                <a:solidFill>
                  <a:srgbClr val="1F2937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 xml:space="preserve">Brand audience view</a:t>
            </a:r>
          </a:p>
          <a:p>
            <a:pPr marL="0" indent="0" algn="l">
              <a:spcBef>
                <a:spcPts val="0"/>
              </a:spcBef>
              <a:spcAft>
                <a:spcPts val="300"/>
              </a:spcAft>
              <a:buNone/>
            </a:pPr>
            <a:r>
              <a:rPr lang="en-GB" sz="1100" dirty="0">
                <a:solidFill>
                  <a:srgbClr val="5B6474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 xml:space="preserve">AudienceFit re-weights every shelf by how well its shoppers match a brand's target age group.</a:t>
            </a:r>
          </a:p>
        </p:txBody>
      </p:sp>
      <p:sp>
        <p:nvSpPr>
          <p:cNvPr id="1015" name="Card 1015"/>
          <p:cNvSpPr txBox="1"/>
          <p:nvPr/>
        </p:nvSpPr>
        <p:spPr>
          <a:xfrm>
            <a:off x="3246120" y="2990088"/>
            <a:ext cx="2679192" cy="1572768"/>
          </a:xfrm>
          <a:prstGeom prst="roundRect">
            <a:avLst>
              <a:gd name="adj" fmla="val 6000"/>
            </a:avLst>
          </a:prstGeom>
          <a:solidFill>
            <a:srgbClr val="F5F7F9"/>
          </a:solidFill>
          <a:ln>
            <a:noFill/>
          </a:ln>
        </p:spPr>
        <p:txBody>
          <a:bodyPr wrap="square" lIns="109728" tIns="109728" rIns="109728" bIns="109728" anchor="t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200"/>
              </a:spcAft>
              <a:buNone/>
            </a:pPr>
            <a:r>
              <a:rPr lang="en-GB" sz="850" dirty="0">
                <a:solidFill>
                  <a:srgbClr val="0F766E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 xml:space="preserve">05</a:t>
            </a:r>
          </a:p>
          <a:p>
            <a:pPr marL="0" indent="0" algn="l">
              <a:spcBef>
                <a:spcPts val="0"/>
              </a:spcBef>
              <a:spcAft>
                <a:spcPts val="400"/>
              </a:spcAft>
              <a:buNone/>
            </a:pPr>
            <a:r>
              <a:rPr lang="en-GB" sz="1200" dirty="0">
                <a:solidFill>
                  <a:srgbClr val="1F2937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 xml:space="preserve">Ask ShelfSense</a:t>
            </a:r>
          </a:p>
          <a:p>
            <a:pPr marL="0" indent="0" algn="l">
              <a:spcBef>
                <a:spcPts val="0"/>
              </a:spcBef>
              <a:spcAft>
                <a:spcPts val="300"/>
              </a:spcAft>
              <a:buNone/>
            </a:pPr>
            <a:r>
              <a:rPr lang="en-GB" sz="1100" dirty="0">
                <a:solidFill>
                  <a:srgbClr val="5B6474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 xml:space="preserve">Plain-language questions answered by Gemini from Firestore data only, citing shelf ids.</a:t>
            </a:r>
          </a:p>
        </p:txBody>
      </p:sp>
      <p:sp>
        <p:nvSpPr>
          <p:cNvPr id="1016" name="Card 1016"/>
          <p:cNvSpPr txBox="1"/>
          <p:nvPr/>
        </p:nvSpPr>
        <p:spPr>
          <a:xfrm>
            <a:off x="6144768" y="2990088"/>
            <a:ext cx="2679192" cy="1572768"/>
          </a:xfrm>
          <a:prstGeom prst="roundRect">
            <a:avLst>
              <a:gd name="adj" fmla="val 6000"/>
            </a:avLst>
          </a:prstGeom>
          <a:solidFill>
            <a:srgbClr val="F5F7F9"/>
          </a:solidFill>
          <a:ln>
            <a:noFill/>
          </a:ln>
        </p:spPr>
        <p:txBody>
          <a:bodyPr wrap="square" lIns="109728" tIns="109728" rIns="109728" bIns="109728" anchor="t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200"/>
              </a:spcAft>
              <a:buNone/>
            </a:pPr>
            <a:r>
              <a:rPr lang="en-GB" sz="850" dirty="0">
                <a:solidFill>
                  <a:srgbClr val="0F766E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 xml:space="preserve">06</a:t>
            </a:r>
          </a:p>
          <a:p>
            <a:pPr marL="0" indent="0" algn="l">
              <a:spcBef>
                <a:spcPts val="0"/>
              </a:spcBef>
              <a:spcAft>
                <a:spcPts val="400"/>
              </a:spcAft>
              <a:buNone/>
            </a:pPr>
            <a:r>
              <a:rPr lang="en-GB" sz="1200" dirty="0">
                <a:solidFill>
                  <a:srgbClr val="1F2937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 xml:space="preserve">Floor heatmap &amp; insights</a:t>
            </a:r>
          </a:p>
          <a:p>
            <a:pPr marL="0" indent="0" algn="l">
              <a:spcBef>
                <a:spcPts val="0"/>
              </a:spcBef>
              <a:spcAft>
                <a:spcPts val="300"/>
              </a:spcAft>
              <a:buNone/>
            </a:pPr>
            <a:r>
              <a:rPr lang="en-GB" sz="1100" dirty="0">
                <a:solidFill>
                  <a:srgbClr val="5B6474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 xml:space="preserve">Shelves coloured by any metric, hour × weekday heatmaps, and a weekly summary written by Gemini.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18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8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8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18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Process flow diagram or Use-case diagram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1017" name="Step 1017"/>
          <p:cNvSpPr txBox="1"/>
          <p:nvPr/>
        </p:nvSpPr>
        <p:spPr>
          <a:xfrm>
            <a:off x="347472" y="1234440"/>
            <a:ext cx="1197864" cy="914400"/>
          </a:xfrm>
          <a:prstGeom prst="roundRect">
            <a:avLst>
              <a:gd name="adj" fmla="val 10000"/>
            </a:avLst>
          </a:prstGeom>
          <a:solidFill>
            <a:srgbClr val="0F766E"/>
          </a:solidFill>
          <a:ln>
            <a:noFill/>
          </a:ln>
        </p:spPr>
        <p:txBody>
          <a:bodyPr wrap="square" lIns="82296" tIns="82296" rIns="82296" bIns="82296" anchor="t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200"/>
              </a:spcAft>
              <a:buNone/>
            </a:pPr>
            <a:r>
              <a:rPr lang="en-GB" sz="1100" dirty="0">
                <a:solidFill>
                  <a:srgbClr val="FFFFFF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 xml:space="preserve">1  Capture</a:t>
            </a:r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dirty="0">
                <a:solidFill>
                  <a:srgbClr val="E6F4F1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 xml:space="preserve">Store camera clip, or upload</a:t>
            </a:r>
          </a:p>
        </p:txBody>
      </p:sp>
      <p:sp>
        <p:nvSpPr>
          <p:cNvPr id="1018" name="Arrow 1018"/>
          <p:cNvSpPr/>
          <p:nvPr/>
        </p:nvSpPr>
        <p:spPr>
          <a:xfrm>
            <a:off x="1581912" y="1618488"/>
            <a:ext cx="155448" cy="146304"/>
          </a:xfrm>
          <a:prstGeom prst="rightArrow">
            <a:avLst/>
          </a:prstGeom>
          <a:solidFill>
            <a:srgbClr val="0F766E"/>
          </a:solidFill>
          <a:ln>
            <a:noFill/>
          </a:ln>
        </p:spPr>
      </p:sp>
      <p:sp>
        <p:nvSpPr>
          <p:cNvPr id="1019" name="Step 1019"/>
          <p:cNvSpPr txBox="1"/>
          <p:nvPr/>
        </p:nvSpPr>
        <p:spPr>
          <a:xfrm>
            <a:off x="1773936" y="1234440"/>
            <a:ext cx="1197864" cy="914400"/>
          </a:xfrm>
          <a:prstGeom prst="roundRect">
            <a:avLst>
              <a:gd name="adj" fmla="val 10000"/>
            </a:avLst>
          </a:prstGeom>
          <a:solidFill>
            <a:srgbClr val="0F766E"/>
          </a:solidFill>
          <a:ln>
            <a:noFill/>
          </a:ln>
        </p:spPr>
        <p:txBody>
          <a:bodyPr wrap="square" lIns="82296" tIns="82296" rIns="82296" bIns="82296" anchor="t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200"/>
              </a:spcAft>
              <a:buNone/>
            </a:pPr>
            <a:r>
              <a:rPr lang="en-GB" sz="1100" dirty="0">
                <a:solidFill>
                  <a:srgbClr val="FFFFFF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 xml:space="preserve">2  Cloud Run</a:t>
            </a:r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dirty="0">
                <a:solidFill>
                  <a:srgbClr val="E6F4F1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 xml:space="preserve">API stores clip, builds zone prompt</a:t>
            </a:r>
          </a:p>
        </p:txBody>
      </p:sp>
      <p:sp>
        <p:nvSpPr>
          <p:cNvPr id="1020" name="Arrow 1020"/>
          <p:cNvSpPr/>
          <p:nvPr/>
        </p:nvSpPr>
        <p:spPr>
          <a:xfrm>
            <a:off x="3008376" y="1618488"/>
            <a:ext cx="155448" cy="146304"/>
          </a:xfrm>
          <a:prstGeom prst="rightArrow">
            <a:avLst/>
          </a:prstGeom>
          <a:solidFill>
            <a:srgbClr val="0F766E"/>
          </a:solidFill>
          <a:ln>
            <a:noFill/>
          </a:ln>
        </p:spPr>
      </p:sp>
      <p:sp>
        <p:nvSpPr>
          <p:cNvPr id="1021" name="Step 1021"/>
          <p:cNvSpPr txBox="1"/>
          <p:nvPr/>
        </p:nvSpPr>
        <p:spPr>
          <a:xfrm>
            <a:off x="3200400" y="1234440"/>
            <a:ext cx="1197864" cy="914400"/>
          </a:xfrm>
          <a:prstGeom prst="roundRect">
            <a:avLst>
              <a:gd name="adj" fmla="val 10000"/>
            </a:avLst>
          </a:prstGeom>
          <a:solidFill>
            <a:srgbClr val="0F766E"/>
          </a:solidFill>
          <a:ln>
            <a:noFill/>
          </a:ln>
        </p:spPr>
        <p:txBody>
          <a:bodyPr wrap="square" lIns="82296" tIns="82296" rIns="82296" bIns="82296" anchor="t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200"/>
              </a:spcAft>
              <a:buNone/>
            </a:pPr>
            <a:r>
              <a:rPr lang="en-GB" sz="1100" dirty="0">
                <a:solidFill>
                  <a:srgbClr val="FFFFFF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 xml:space="preserve">3  Gemini</a:t>
            </a:r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dirty="0">
                <a:solidFill>
                  <a:srgbClr val="E6F4F1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 xml:space="preserve">Counts per zone, JSON schema</a:t>
            </a:r>
          </a:p>
        </p:txBody>
      </p:sp>
      <p:sp>
        <p:nvSpPr>
          <p:cNvPr id="1022" name="Arrow 1022"/>
          <p:cNvSpPr/>
          <p:nvPr/>
        </p:nvSpPr>
        <p:spPr>
          <a:xfrm>
            <a:off x="4434840" y="1618488"/>
            <a:ext cx="155448" cy="146304"/>
          </a:xfrm>
          <a:prstGeom prst="rightArrow">
            <a:avLst/>
          </a:prstGeom>
          <a:solidFill>
            <a:srgbClr val="0F766E"/>
          </a:solidFill>
          <a:ln>
            <a:noFill/>
          </a:ln>
        </p:spPr>
      </p:sp>
      <p:sp>
        <p:nvSpPr>
          <p:cNvPr id="1023" name="Step 1023"/>
          <p:cNvSpPr txBox="1"/>
          <p:nvPr/>
        </p:nvSpPr>
        <p:spPr>
          <a:xfrm>
            <a:off x="4626864" y="1234440"/>
            <a:ext cx="1197864" cy="914400"/>
          </a:xfrm>
          <a:prstGeom prst="roundRect">
            <a:avLst>
              <a:gd name="adj" fmla="val 10000"/>
            </a:avLst>
          </a:prstGeom>
          <a:solidFill>
            <a:srgbClr val="0F766E"/>
          </a:solidFill>
          <a:ln>
            <a:noFill/>
          </a:ln>
        </p:spPr>
        <p:txBody>
          <a:bodyPr wrap="square" lIns="82296" tIns="82296" rIns="82296" bIns="82296" anchor="t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200"/>
              </a:spcAft>
              <a:buNone/>
            </a:pPr>
            <a:r>
              <a:rPr lang="en-GB" sz="1100" dirty="0">
                <a:solidFill>
                  <a:srgbClr val="FFFFFF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 xml:space="preserve">4  Firestore</a:t>
            </a:r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dirty="0">
                <a:solidFill>
                  <a:srgbClr val="E6F4F1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 xml:space="preserve">Hourly buckets: seed + live</a:t>
            </a:r>
          </a:p>
        </p:txBody>
      </p:sp>
      <p:sp>
        <p:nvSpPr>
          <p:cNvPr id="1024" name="Arrow 1024"/>
          <p:cNvSpPr/>
          <p:nvPr/>
        </p:nvSpPr>
        <p:spPr>
          <a:xfrm>
            <a:off x="5861303" y="1618488"/>
            <a:ext cx="155448" cy="146304"/>
          </a:xfrm>
          <a:prstGeom prst="rightArrow">
            <a:avLst/>
          </a:prstGeom>
          <a:solidFill>
            <a:srgbClr val="0F766E"/>
          </a:solidFill>
          <a:ln>
            <a:noFill/>
          </a:ln>
        </p:spPr>
      </p:sp>
      <p:sp>
        <p:nvSpPr>
          <p:cNvPr id="1025" name="Step 1025"/>
          <p:cNvSpPr txBox="1"/>
          <p:nvPr/>
        </p:nvSpPr>
        <p:spPr>
          <a:xfrm>
            <a:off x="6053328" y="1234440"/>
            <a:ext cx="1197864" cy="914400"/>
          </a:xfrm>
          <a:prstGeom prst="roundRect">
            <a:avLst>
              <a:gd name="adj" fmla="val 10000"/>
            </a:avLst>
          </a:prstGeom>
          <a:solidFill>
            <a:srgbClr val="0F766E"/>
          </a:solidFill>
          <a:ln>
            <a:noFill/>
          </a:ln>
        </p:spPr>
        <p:txBody>
          <a:bodyPr wrap="square" lIns="82296" tIns="82296" rIns="82296" bIns="82296" anchor="t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200"/>
              </a:spcAft>
              <a:buNone/>
            </a:pPr>
            <a:r>
              <a:rPr lang="en-GB" sz="1100" dirty="0">
                <a:solidFill>
                  <a:srgbClr val="FFFFFF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 xml:space="preserve">5  Score</a:t>
            </a:r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dirty="0">
                <a:solidFill>
                  <a:srgbClr val="E6F4F1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 xml:space="preserve">SVI, audience fit, rent</a:t>
            </a:r>
          </a:p>
        </p:txBody>
      </p:sp>
      <p:sp>
        <p:nvSpPr>
          <p:cNvPr id="1026" name="Arrow 1026"/>
          <p:cNvSpPr/>
          <p:nvPr/>
        </p:nvSpPr>
        <p:spPr>
          <a:xfrm>
            <a:off x="7287768" y="1618488"/>
            <a:ext cx="155448" cy="146304"/>
          </a:xfrm>
          <a:prstGeom prst="rightArrow">
            <a:avLst/>
          </a:prstGeom>
          <a:solidFill>
            <a:srgbClr val="0F766E"/>
          </a:solidFill>
          <a:ln>
            <a:noFill/>
          </a:ln>
        </p:spPr>
      </p:sp>
      <p:sp>
        <p:nvSpPr>
          <p:cNvPr id="1027" name="Step 1027"/>
          <p:cNvSpPr txBox="1"/>
          <p:nvPr/>
        </p:nvSpPr>
        <p:spPr>
          <a:xfrm>
            <a:off x="7479792" y="1234440"/>
            <a:ext cx="1197864" cy="914400"/>
          </a:xfrm>
          <a:prstGeom prst="roundRect">
            <a:avLst>
              <a:gd name="adj" fmla="val 10000"/>
            </a:avLst>
          </a:prstGeom>
          <a:solidFill>
            <a:srgbClr val="0F766E"/>
          </a:solidFill>
          <a:ln>
            <a:noFill/>
          </a:ln>
        </p:spPr>
        <p:txBody>
          <a:bodyPr wrap="square" lIns="82296" tIns="82296" rIns="82296" bIns="82296" anchor="t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200"/>
              </a:spcAft>
              <a:buNone/>
            </a:pPr>
            <a:r>
              <a:rPr lang="en-GB" sz="1100" dirty="0">
                <a:solidFill>
                  <a:srgbClr val="FFFFFF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 xml:space="preserve">6  Act</a:t>
            </a:r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dirty="0">
                <a:solidFill>
                  <a:srgbClr val="E6F4F1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 xml:space="preserve">Dashboard, chat, CSV</a:t>
            </a:r>
          </a:p>
        </p:txBody>
      </p:sp>
      <p:sp>
        <p:nvSpPr>
          <p:cNvPr id="1028" name="Label 1028"/>
          <p:cNvSpPr txBox="1"/>
          <p:nvPr/>
        </p:nvSpPr>
        <p:spPr>
          <a:xfrm>
            <a:off x="347472" y="2331720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400"/>
              </a:spcAft>
              <a:buNone/>
            </a:pPr>
            <a:r>
              <a:rPr lang="en-GB" sz="1200" dirty="0">
                <a:solidFill>
                  <a:srgbClr val="1F2937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 xml:space="preserve">Use cases</a:t>
            </a:r>
          </a:p>
        </p:txBody>
      </p:sp>
      <p:sp>
        <p:nvSpPr>
          <p:cNvPr id="1029" name="Card 1029"/>
          <p:cNvSpPr txBox="1"/>
          <p:nvPr/>
        </p:nvSpPr>
        <p:spPr>
          <a:xfrm>
            <a:off x="347472" y="2697480"/>
            <a:ext cx="2679192" cy="1554480"/>
          </a:xfrm>
          <a:prstGeom prst="roundRect">
            <a:avLst>
              <a:gd name="adj" fmla="val 6000"/>
            </a:avLst>
          </a:prstGeom>
          <a:solidFill>
            <a:srgbClr val="F5F7F9"/>
          </a:solidFill>
          <a:ln>
            <a:noFill/>
          </a:ln>
        </p:spPr>
        <p:txBody>
          <a:bodyPr wrap="square" lIns="109728" tIns="109728" rIns="109728" bIns="109728" anchor="t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400"/>
              </a:spcAft>
              <a:buNone/>
            </a:pPr>
            <a:r>
              <a:rPr lang="en-GB" sz="1200" dirty="0">
                <a:solidFill>
                  <a:srgbClr val="1F2937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 xml:space="preserve">Retailer</a:t>
            </a:r>
          </a:p>
          <a:p>
            <a:pPr marL="0" indent="0" algn="l">
              <a:spcBef>
                <a:spcPts val="0"/>
              </a:spcBef>
              <a:spcAft>
                <a:spcPts val="300"/>
              </a:spcAft>
              <a:buNone/>
            </a:pPr>
            <a:r>
              <a:rPr lang="en-GB" sz="1100" dirty="0">
                <a:solidFill>
                  <a:srgbClr val="5B6474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 xml:space="preserve">• Price end-caps and bays from evidence</a:t>
            </a:r>
          </a:p>
          <a:p>
            <a:pPr marL="0" indent="0" algn="l">
              <a:spcBef>
                <a:spcPts val="0"/>
              </a:spcBef>
              <a:spcAft>
                <a:spcPts val="300"/>
              </a:spcAft>
              <a:buNone/>
            </a:pPr>
            <a:r>
              <a:rPr lang="en-GB" sz="1100" dirty="0">
                <a:solidFill>
                  <a:srgbClr val="5B6474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 xml:space="preserve">• Staff the floor for real peaks</a:t>
            </a:r>
          </a:p>
          <a:p>
            <a:pPr marL="0" indent="0" algn="l">
              <a:spcBef>
                <a:spcPts val="0"/>
              </a:spcBef>
              <a:spcAft>
                <a:spcPts val="300"/>
              </a:spcAft>
              <a:buNone/>
            </a:pPr>
            <a:r>
              <a:rPr lang="en-GB" sz="1100" dirty="0">
                <a:solidFill>
                  <a:srgbClr val="5B6474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 xml:space="preserve">• Re-plan layout from the heatmap</a:t>
            </a:r>
          </a:p>
        </p:txBody>
      </p:sp>
      <p:sp>
        <p:nvSpPr>
          <p:cNvPr id="1030" name="Card 1030"/>
          <p:cNvSpPr txBox="1"/>
          <p:nvPr/>
        </p:nvSpPr>
        <p:spPr>
          <a:xfrm>
            <a:off x="3246120" y="2697480"/>
            <a:ext cx="2679192" cy="1554480"/>
          </a:xfrm>
          <a:prstGeom prst="roundRect">
            <a:avLst>
              <a:gd name="adj" fmla="val 6000"/>
            </a:avLst>
          </a:prstGeom>
          <a:solidFill>
            <a:srgbClr val="F5F7F9"/>
          </a:solidFill>
          <a:ln>
            <a:noFill/>
          </a:ln>
        </p:spPr>
        <p:txBody>
          <a:bodyPr wrap="square" lIns="109728" tIns="109728" rIns="109728" bIns="109728" anchor="t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400"/>
              </a:spcAft>
              <a:buNone/>
            </a:pPr>
            <a:r>
              <a:rPr lang="en-GB" sz="1200" dirty="0">
                <a:solidFill>
                  <a:srgbClr val="1F2937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 xml:space="preserve">FMCG brand</a:t>
            </a:r>
          </a:p>
          <a:p>
            <a:pPr marL="0" indent="0" algn="l">
              <a:spcBef>
                <a:spcPts val="0"/>
              </a:spcBef>
              <a:spcAft>
                <a:spcPts val="300"/>
              </a:spcAft>
              <a:buNone/>
            </a:pPr>
            <a:r>
              <a:rPr lang="en-GB" sz="1100" dirty="0">
                <a:solidFill>
                  <a:srgbClr val="5B6474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 xml:space="preserve">• Choose shelves that reach its audience</a:t>
            </a:r>
          </a:p>
          <a:p>
            <a:pPr marL="0" indent="0" algn="l">
              <a:spcBef>
                <a:spcPts val="0"/>
              </a:spcBef>
              <a:spcAft>
                <a:spcPts val="300"/>
              </a:spcAft>
              <a:buNone/>
            </a:pPr>
            <a:r>
              <a:rPr lang="en-GB" sz="1100" dirty="0">
                <a:solidFill>
                  <a:srgbClr val="5B6474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 xml:space="preserve">• Verify reach and attention after launch</a:t>
            </a:r>
          </a:p>
          <a:p>
            <a:pPr marL="0" indent="0" algn="l">
              <a:spcBef>
                <a:spcPts val="0"/>
              </a:spcBef>
              <a:spcAft>
                <a:spcPts val="300"/>
              </a:spcAft>
              <a:buNone/>
            </a:pPr>
            <a:r>
              <a:rPr lang="en-GB" sz="1100" dirty="0">
                <a:solidFill>
                  <a:srgbClr val="5B6474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 xml:space="preserve">• Compare placements across stores</a:t>
            </a:r>
          </a:p>
        </p:txBody>
      </p:sp>
      <p:sp>
        <p:nvSpPr>
          <p:cNvPr id="1031" name="Card 1031"/>
          <p:cNvSpPr txBox="1"/>
          <p:nvPr/>
        </p:nvSpPr>
        <p:spPr>
          <a:xfrm>
            <a:off x="6144768" y="2697480"/>
            <a:ext cx="2679192" cy="1554480"/>
          </a:xfrm>
          <a:prstGeom prst="roundRect">
            <a:avLst>
              <a:gd name="adj" fmla="val 6000"/>
            </a:avLst>
          </a:prstGeom>
          <a:solidFill>
            <a:srgbClr val="F5F7F9"/>
          </a:solidFill>
          <a:ln>
            <a:noFill/>
          </a:ln>
        </p:spPr>
        <p:txBody>
          <a:bodyPr wrap="square" lIns="109728" tIns="109728" rIns="109728" bIns="109728" anchor="t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400"/>
              </a:spcAft>
              <a:buNone/>
            </a:pPr>
            <a:r>
              <a:rPr lang="en-GB" sz="1200" dirty="0">
                <a:solidFill>
                  <a:srgbClr val="1F2937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 xml:space="preserve">Store manager</a:t>
            </a:r>
          </a:p>
          <a:p>
            <a:pPr marL="0" indent="0" algn="l">
              <a:spcBef>
                <a:spcPts val="0"/>
              </a:spcBef>
              <a:spcAft>
                <a:spcPts val="300"/>
              </a:spcAft>
              <a:buNone/>
            </a:pPr>
            <a:r>
              <a:rPr lang="en-GB" sz="1100" dirty="0">
                <a:solidFill>
                  <a:srgbClr val="5B6474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 xml:space="preserve">• Ask questions in plain language</a:t>
            </a:r>
          </a:p>
          <a:p>
            <a:pPr marL="0" indent="0" algn="l">
              <a:spcBef>
                <a:spcPts val="0"/>
              </a:spcBef>
              <a:spcAft>
                <a:spcPts val="300"/>
              </a:spcAft>
              <a:buNone/>
            </a:pPr>
            <a:r>
              <a:rPr lang="en-GB" sz="1100" dirty="0">
                <a:solidFill>
                  <a:srgbClr val="5B6474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 xml:space="preserve">• Weekly summary with one action</a:t>
            </a:r>
          </a:p>
          <a:p>
            <a:pPr marL="0" indent="0" algn="l">
              <a:spcBef>
                <a:spcPts val="0"/>
              </a:spcBef>
              <a:spcAft>
                <a:spcPts val="300"/>
              </a:spcAft>
              <a:buNone/>
            </a:pPr>
            <a:r>
              <a:rPr lang="en-GB" sz="1100" dirty="0">
                <a:solidFill>
                  <a:srgbClr val="5B6474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 xml:space="preserve">• Spot under-priced shelves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19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19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9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19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Wireframes/Mock diagrams of the proposed solution (optional)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pic>
        <p:nvPicPr>
          <p:cNvPr id="1032" name="Floor heatmap + shelf detail: how each SVI is built 1032" descr="Floor heatmap + shelf detail: how each SVI is buil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7472" y="1283017"/>
            <a:ext cx="4087367" cy="2554604"/>
          </a:xfrm>
          <a:prstGeom prst="rect">
            <a:avLst/>
          </a:prstGeom>
          <a:ln w="9525">
            <a:solidFill>
              <a:srgbClr val="D9DEE4"/>
            </a:solidFill>
          </a:ln>
        </p:spPr>
      </p:pic>
      <p:sp>
        <p:nvSpPr>
          <p:cNvPr id="1033" name="Caption 1033"/>
          <p:cNvSpPr txBox="1"/>
          <p:nvPr/>
        </p:nvSpPr>
        <p:spPr>
          <a:xfrm>
            <a:off x="347472" y="4005072"/>
            <a:ext cx="4087367" cy="45720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normAutofit/>
          </a:bodyPr>
          <a:lstStyle/>
          <a:p>
            <a:pPr marL="0" indent="0" algn="ctr">
              <a:spcBef>
                <a:spcPts val="0"/>
              </a:spcBef>
              <a:spcAft>
                <a:spcPts val="400"/>
              </a:spcAft>
              <a:buNone/>
            </a:pPr>
            <a:r>
              <a:rPr lang="en-GB" sz="1000" dirty="0">
                <a:solidFill>
                  <a:srgbClr val="5B6474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 xml:space="preserve">Floor heatmap + shelf detail: how each SVI is built</a:t>
            </a:r>
          </a:p>
        </p:txBody>
      </p:sp>
      <p:pic>
        <p:nvPicPr>
          <p:cNvPr id="1034" name="Shelf pricing in a brand's view (ages 18–35) 1034" descr="Shelf pricing in a brand's view (ages 18–35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09159" y="1283017"/>
            <a:ext cx="4087367" cy="2554604"/>
          </a:xfrm>
          <a:prstGeom prst="rect">
            <a:avLst/>
          </a:prstGeom>
          <a:ln w="9525">
            <a:solidFill>
              <a:srgbClr val="D9DEE4"/>
            </a:solidFill>
          </a:ln>
        </p:spPr>
      </p:pic>
      <p:sp>
        <p:nvSpPr>
          <p:cNvPr id="1035" name="Caption 1035"/>
          <p:cNvSpPr txBox="1"/>
          <p:nvPr/>
        </p:nvSpPr>
        <p:spPr>
          <a:xfrm>
            <a:off x="4709159" y="4005072"/>
            <a:ext cx="4087367" cy="45720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normAutofit/>
          </a:bodyPr>
          <a:lstStyle/>
          <a:p>
            <a:pPr marL="0" indent="0" algn="ctr">
              <a:spcBef>
                <a:spcPts val="0"/>
              </a:spcBef>
              <a:spcAft>
                <a:spcPts val="400"/>
              </a:spcAft>
              <a:buNone/>
            </a:pPr>
            <a:r>
              <a:rPr lang="en-GB" sz="1000" dirty="0">
                <a:solidFill>
                  <a:srgbClr val="5B6474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 xml:space="preserve">Shelf pricing in a brand's view (ages 18–35)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" name="Google Shape;108;p20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20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20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20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Architecture diagram of the proposed solution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pic>
        <p:nvPicPr>
          <p:cNvPr id="1036" name="ShelfSense architecture diagram 1036" descr="ShelfSense architecture diagram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8071" y="1115568"/>
            <a:ext cx="7347857" cy="342900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21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21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21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21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Technologies to be used in the solution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1037" name="Card 1037"/>
          <p:cNvSpPr txBox="1"/>
          <p:nvPr/>
        </p:nvSpPr>
        <p:spPr>
          <a:xfrm>
            <a:off x="347472" y="1234440"/>
            <a:ext cx="2029968" cy="1481328"/>
          </a:xfrm>
          <a:prstGeom prst="roundRect">
            <a:avLst>
              <a:gd name="adj" fmla="val 6000"/>
            </a:avLst>
          </a:prstGeom>
          <a:solidFill>
            <a:srgbClr val="E6F4F1"/>
          </a:solidFill>
          <a:ln>
            <a:noFill/>
          </a:ln>
        </p:spPr>
        <p:txBody>
          <a:bodyPr wrap="square" lIns="109728" tIns="109728" rIns="109728" bIns="109728" anchor="t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400"/>
              </a:spcAft>
              <a:buNone/>
            </a:pPr>
            <a:r>
              <a:rPr lang="en-GB" sz="1100" dirty="0">
                <a:solidFill>
                  <a:srgbClr val="1F2937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 xml:space="preserve">Gemini 3 Flash · Vertex AI</a:t>
            </a:r>
          </a:p>
          <a:p>
            <a:pPr marL="0" indent="0" algn="l">
              <a:spcBef>
                <a:spcPts val="0"/>
              </a:spcBef>
              <a:spcAft>
                <a:spcPts val="300"/>
              </a:spcAft>
              <a:buNone/>
            </a:pPr>
            <a:r>
              <a:rPr lang="en-GB" sz="950" dirty="0">
                <a:solidFill>
                  <a:srgbClr val="5B6474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 xml:space="preserve">Video understanding with structured JSON output; grounded Q&amp;A; weekly summary</a:t>
            </a:r>
          </a:p>
        </p:txBody>
      </p:sp>
      <p:sp>
        <p:nvSpPr>
          <p:cNvPr id="1038" name="Card 1038"/>
          <p:cNvSpPr txBox="1"/>
          <p:nvPr/>
        </p:nvSpPr>
        <p:spPr>
          <a:xfrm>
            <a:off x="2487168" y="1234440"/>
            <a:ext cx="2029968" cy="1481328"/>
          </a:xfrm>
          <a:prstGeom prst="roundRect">
            <a:avLst>
              <a:gd name="adj" fmla="val 6000"/>
            </a:avLst>
          </a:prstGeom>
          <a:solidFill>
            <a:srgbClr val="E6F4F1"/>
          </a:solidFill>
          <a:ln>
            <a:noFill/>
          </a:ln>
        </p:spPr>
        <p:txBody>
          <a:bodyPr wrap="square" lIns="109728" tIns="109728" rIns="109728" bIns="109728" anchor="t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400"/>
              </a:spcAft>
              <a:buNone/>
            </a:pPr>
            <a:r>
              <a:rPr lang="en-GB" sz="1100" dirty="0">
                <a:solidFill>
                  <a:srgbClr val="1F2937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 xml:space="preserve">Cloud Run</a:t>
            </a:r>
          </a:p>
          <a:p>
            <a:pPr marL="0" indent="0" algn="l">
              <a:spcBef>
                <a:spcPts val="0"/>
              </a:spcBef>
              <a:spcAft>
                <a:spcPts val="300"/>
              </a:spcAft>
              <a:buNone/>
            </a:pPr>
            <a:r>
              <a:rPr lang="en-GB" sz="950" dirty="0">
                <a:solidFill>
                  <a:srgbClr val="5B6474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 xml:space="preserve">FastAPI service in a container, autoscaling, dedicated service account</a:t>
            </a:r>
          </a:p>
        </p:txBody>
      </p:sp>
      <p:sp>
        <p:nvSpPr>
          <p:cNvPr id="1039" name="Card 1039"/>
          <p:cNvSpPr txBox="1"/>
          <p:nvPr/>
        </p:nvSpPr>
        <p:spPr>
          <a:xfrm>
            <a:off x="4626864" y="1234440"/>
            <a:ext cx="2029968" cy="1481328"/>
          </a:xfrm>
          <a:prstGeom prst="roundRect">
            <a:avLst>
              <a:gd name="adj" fmla="val 6000"/>
            </a:avLst>
          </a:prstGeom>
          <a:solidFill>
            <a:srgbClr val="E6F4F1"/>
          </a:solidFill>
          <a:ln>
            <a:noFill/>
          </a:ln>
        </p:spPr>
        <p:txBody>
          <a:bodyPr wrap="square" lIns="109728" tIns="109728" rIns="109728" bIns="109728" anchor="t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400"/>
              </a:spcAft>
              <a:buNone/>
            </a:pPr>
            <a:r>
              <a:rPr lang="en-GB" sz="1100" dirty="0">
                <a:solidFill>
                  <a:srgbClr val="1F2937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 xml:space="preserve">Firestore</a:t>
            </a:r>
          </a:p>
          <a:p>
            <a:pPr marL="0" indent="0" algn="l">
              <a:spcBef>
                <a:spcPts val="0"/>
              </a:spcBef>
              <a:spcAft>
                <a:spcPts val="300"/>
              </a:spcAft>
              <a:buNone/>
            </a:pPr>
            <a:r>
              <a:rPr lang="en-GB" sz="950" dirty="0">
                <a:solidFill>
                  <a:srgbClr val="5B6474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 xml:space="preserve">System of record: units, cameras, hourly buckets, analyses, questions</a:t>
            </a:r>
          </a:p>
        </p:txBody>
      </p:sp>
      <p:sp>
        <p:nvSpPr>
          <p:cNvPr id="1040" name="Card 1040"/>
          <p:cNvSpPr txBox="1"/>
          <p:nvPr/>
        </p:nvSpPr>
        <p:spPr>
          <a:xfrm>
            <a:off x="6766560" y="1234440"/>
            <a:ext cx="2029968" cy="1481328"/>
          </a:xfrm>
          <a:prstGeom prst="roundRect">
            <a:avLst>
              <a:gd name="adj" fmla="val 6000"/>
            </a:avLst>
          </a:prstGeom>
          <a:solidFill>
            <a:srgbClr val="E6F4F1"/>
          </a:solidFill>
          <a:ln>
            <a:noFill/>
          </a:ln>
        </p:spPr>
        <p:txBody>
          <a:bodyPr wrap="square" lIns="109728" tIns="109728" rIns="109728" bIns="109728" anchor="t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400"/>
              </a:spcAft>
              <a:buNone/>
            </a:pPr>
            <a:r>
              <a:rPr lang="en-GB" sz="1100" dirty="0">
                <a:solidFill>
                  <a:srgbClr val="1F2937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 xml:space="preserve">Firebase Hosting</a:t>
            </a:r>
          </a:p>
          <a:p>
            <a:pPr marL="0" indent="0" algn="l">
              <a:spcBef>
                <a:spcPts val="0"/>
              </a:spcBef>
              <a:spcAft>
                <a:spcPts val="300"/>
              </a:spcAft>
              <a:buNone/>
            </a:pPr>
            <a:r>
              <a:rPr lang="en-GB" sz="950" dirty="0">
                <a:solidFill>
                  <a:srgbClr val="5B6474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 xml:space="preserve">Dashboard + /api/** rewrite to Cloud Run on one origin</a:t>
            </a:r>
          </a:p>
        </p:txBody>
      </p:sp>
      <p:sp>
        <p:nvSpPr>
          <p:cNvPr id="1041" name="Card 1041"/>
          <p:cNvSpPr txBox="1"/>
          <p:nvPr/>
        </p:nvSpPr>
        <p:spPr>
          <a:xfrm>
            <a:off x="347472" y="2880360"/>
            <a:ext cx="2029968" cy="1481328"/>
          </a:xfrm>
          <a:prstGeom prst="roundRect">
            <a:avLst>
              <a:gd name="adj" fmla="val 6000"/>
            </a:avLst>
          </a:prstGeom>
          <a:solidFill>
            <a:srgbClr val="F5F7F9"/>
          </a:solidFill>
          <a:ln>
            <a:noFill/>
          </a:ln>
        </p:spPr>
        <p:txBody>
          <a:bodyPr wrap="square" lIns="109728" tIns="109728" rIns="109728" bIns="109728" anchor="t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400"/>
              </a:spcAft>
              <a:buNone/>
            </a:pPr>
            <a:r>
              <a:rPr lang="en-GB" sz="1100" dirty="0">
                <a:solidFill>
                  <a:srgbClr val="1F2937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 xml:space="preserve">Cloud Storage</a:t>
            </a:r>
          </a:p>
          <a:p>
            <a:pPr marL="0" indent="0" algn="l">
              <a:spcBef>
                <a:spcPts val="0"/>
              </a:spcBef>
              <a:spcAft>
                <a:spcPts val="300"/>
              </a:spcAft>
              <a:buNone/>
            </a:pPr>
            <a:r>
              <a:rPr lang="en-GB" sz="950" dirty="0">
                <a:solidFill>
                  <a:srgbClr val="5B6474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 xml:space="preserve">Video bucket; uploads deleted after analysis + 1-day lifecycle</a:t>
            </a:r>
          </a:p>
        </p:txBody>
      </p:sp>
      <p:sp>
        <p:nvSpPr>
          <p:cNvPr id="1042" name="Card 1042"/>
          <p:cNvSpPr txBox="1"/>
          <p:nvPr/>
        </p:nvSpPr>
        <p:spPr>
          <a:xfrm>
            <a:off x="2487168" y="2880360"/>
            <a:ext cx="2029968" cy="1481328"/>
          </a:xfrm>
          <a:prstGeom prst="roundRect">
            <a:avLst>
              <a:gd name="adj" fmla="val 6000"/>
            </a:avLst>
          </a:prstGeom>
          <a:solidFill>
            <a:srgbClr val="F5F7F9"/>
          </a:solidFill>
          <a:ln>
            <a:noFill/>
          </a:ln>
        </p:spPr>
        <p:txBody>
          <a:bodyPr wrap="square" lIns="109728" tIns="109728" rIns="109728" bIns="109728" anchor="t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400"/>
              </a:spcAft>
              <a:buNone/>
            </a:pPr>
            <a:r>
              <a:rPr lang="en-GB" sz="1100" dirty="0">
                <a:solidFill>
                  <a:srgbClr val="1F2937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 xml:space="preserve">Cloud Build · Artifact Registry</a:t>
            </a:r>
          </a:p>
          <a:p>
            <a:pPr marL="0" indent="0" algn="l">
              <a:spcBef>
                <a:spcPts val="0"/>
              </a:spcBef>
              <a:spcAft>
                <a:spcPts val="300"/>
              </a:spcAft>
              <a:buNone/>
            </a:pPr>
            <a:r>
              <a:rPr lang="en-GB" sz="950" dirty="0">
                <a:solidFill>
                  <a:srgbClr val="5B6474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 xml:space="preserve">Source-to-container builds for every deploy</a:t>
            </a:r>
          </a:p>
        </p:txBody>
      </p:sp>
      <p:sp>
        <p:nvSpPr>
          <p:cNvPr id="1043" name="Card 1043"/>
          <p:cNvSpPr txBox="1"/>
          <p:nvPr/>
        </p:nvSpPr>
        <p:spPr>
          <a:xfrm>
            <a:off x="4626864" y="2880360"/>
            <a:ext cx="2029968" cy="1481328"/>
          </a:xfrm>
          <a:prstGeom prst="roundRect">
            <a:avLst>
              <a:gd name="adj" fmla="val 6000"/>
            </a:avLst>
          </a:prstGeom>
          <a:solidFill>
            <a:srgbClr val="F5F7F9"/>
          </a:solidFill>
          <a:ln>
            <a:noFill/>
          </a:ln>
        </p:spPr>
        <p:txBody>
          <a:bodyPr wrap="square" lIns="109728" tIns="109728" rIns="109728" bIns="109728" anchor="t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400"/>
              </a:spcAft>
              <a:buNone/>
            </a:pPr>
            <a:r>
              <a:rPr lang="en-GB" sz="1100" dirty="0">
                <a:solidFill>
                  <a:srgbClr val="1F2937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 xml:space="preserve">Python · FastAPI · Pydantic</a:t>
            </a:r>
          </a:p>
          <a:p>
            <a:pPr marL="0" indent="0" algn="l">
              <a:spcBef>
                <a:spcPts val="0"/>
              </a:spcBef>
              <a:spcAft>
                <a:spcPts val="300"/>
              </a:spcAft>
              <a:buNone/>
            </a:pPr>
            <a:r>
              <a:rPr lang="en-GB" sz="950" dirty="0">
                <a:solidFill>
                  <a:srgbClr val="5B6474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 xml:space="preserve">API, SVI engine, Gemini response schema</a:t>
            </a:r>
          </a:p>
        </p:txBody>
      </p:sp>
      <p:sp>
        <p:nvSpPr>
          <p:cNvPr id="1044" name="Card 1044"/>
          <p:cNvSpPr txBox="1"/>
          <p:nvPr/>
        </p:nvSpPr>
        <p:spPr>
          <a:xfrm>
            <a:off x="6766560" y="2880360"/>
            <a:ext cx="2029968" cy="1481328"/>
          </a:xfrm>
          <a:prstGeom prst="roundRect">
            <a:avLst>
              <a:gd name="adj" fmla="val 6000"/>
            </a:avLst>
          </a:prstGeom>
          <a:solidFill>
            <a:srgbClr val="F5F7F9"/>
          </a:solidFill>
          <a:ln>
            <a:noFill/>
          </a:ln>
        </p:spPr>
        <p:txBody>
          <a:bodyPr wrap="square" lIns="109728" tIns="109728" rIns="109728" bIns="109728" anchor="t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400"/>
              </a:spcAft>
              <a:buNone/>
            </a:pPr>
            <a:r>
              <a:rPr lang="en-GB" sz="1100" dirty="0">
                <a:solidFill>
                  <a:srgbClr val="1F2937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 xml:space="preserve">JavaScript · Plotly</a:t>
            </a:r>
          </a:p>
          <a:p>
            <a:pPr marL="0" indent="0" algn="l">
              <a:spcBef>
                <a:spcPts val="0"/>
              </a:spcBef>
              <a:spcAft>
                <a:spcPts val="300"/>
              </a:spcAft>
              <a:buNone/>
            </a:pPr>
            <a:r>
              <a:rPr lang="en-GB" sz="950" dirty="0">
                <a:solidFill>
                  <a:srgbClr val="5B6474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 xml:space="preserve">Dashboard charts, floor plan SVG, chat UI</a:t>
            </a:r>
          </a:p>
        </p:txBody>
      </p:sp>
      <p:sp>
        <p:nvSpPr>
          <p:cNvPr id="1045" name="Note 1045"/>
          <p:cNvSpPr txBox="1"/>
          <p:nvPr/>
        </p:nvSpPr>
        <p:spPr>
          <a:xfrm>
            <a:off x="347472" y="452628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400"/>
              </a:spcAft>
              <a:buNone/>
            </a:pPr>
            <a:r>
              <a:rPr lang="en-GB" sz="850" dirty="0">
                <a:solidFill>
                  <a:srgbClr val="5B6474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 xml:space="preserve">Shaded: the four required technologies. Demo video narration uses Cloud Text-to-Speech.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" name="Google Shape;124;p22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22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22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22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Estimated implementation cost (optional)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1046" name="Cell 1046"/>
          <p:cNvSpPr txBox="1"/>
          <p:nvPr/>
        </p:nvSpPr>
        <p:spPr>
          <a:xfrm>
            <a:off x="347472" y="1234440"/>
            <a:ext cx="2203704" cy="4572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txBody>
          <a:bodyPr wrap="square" lIns="91440" tIns="91440" rIns="91440" bIns="91440" anchor="ctr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dirty="0">
                <a:solidFill>
                  <a:srgbClr val="FFFFFF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 xml:space="preserve">Item</a:t>
            </a:r>
          </a:p>
        </p:txBody>
      </p:sp>
      <p:sp>
        <p:nvSpPr>
          <p:cNvPr id="1047" name="Cell 1047"/>
          <p:cNvSpPr txBox="1"/>
          <p:nvPr/>
        </p:nvSpPr>
        <p:spPr>
          <a:xfrm>
            <a:off x="2587752" y="1234440"/>
            <a:ext cx="2980944" cy="4572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txBody>
          <a:bodyPr wrap="square" lIns="91440" tIns="91440" rIns="91440" bIns="91440" anchor="ctr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dirty="0">
                <a:solidFill>
                  <a:srgbClr val="FFFFFF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 xml:space="preserve">Prototype (today)</a:t>
            </a:r>
          </a:p>
        </p:txBody>
      </p:sp>
      <p:sp>
        <p:nvSpPr>
          <p:cNvPr id="1048" name="Cell 1048"/>
          <p:cNvSpPr txBox="1"/>
          <p:nvPr/>
        </p:nvSpPr>
        <p:spPr>
          <a:xfrm>
            <a:off x="5605272" y="1234440"/>
            <a:ext cx="3154680" cy="4572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txBody>
          <a:bodyPr wrap="square" lIns="91440" tIns="91440" rIns="91440" bIns="91440" anchor="ctr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dirty="0">
                <a:solidFill>
                  <a:srgbClr val="FFFFFF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 xml:space="preserve">Pilot store (estimate)</a:t>
            </a:r>
          </a:p>
        </p:txBody>
      </p:sp>
      <p:sp>
        <p:nvSpPr>
          <p:cNvPr id="1049" name="Cell 1049"/>
          <p:cNvSpPr txBox="1"/>
          <p:nvPr/>
        </p:nvSpPr>
        <p:spPr>
          <a:xfrm>
            <a:off x="347472" y="1728216"/>
            <a:ext cx="2203704" cy="457200"/>
          </a:xfrm>
          <a:prstGeom prst="rect">
            <a:avLst/>
          </a:prstGeom>
          <a:solidFill>
            <a:srgbClr val="F5F7F9"/>
          </a:solidFill>
          <a:ln>
            <a:noFill/>
          </a:ln>
        </p:spPr>
        <p:txBody>
          <a:bodyPr wrap="square" lIns="91440" tIns="91440" rIns="91440" bIns="91440" anchor="ctr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 dirty="0">
                <a:solidFill>
                  <a:srgbClr val="1F2937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 xml:space="preserve">Gemini video analysis</a:t>
            </a:r>
          </a:p>
        </p:txBody>
      </p:sp>
      <p:sp>
        <p:nvSpPr>
          <p:cNvPr id="1050" name="Cell 1050"/>
          <p:cNvSpPr txBox="1"/>
          <p:nvPr/>
        </p:nvSpPr>
        <p:spPr>
          <a:xfrm>
            <a:off x="2587752" y="1728216"/>
            <a:ext cx="2980944" cy="457200"/>
          </a:xfrm>
          <a:prstGeom prst="rect">
            <a:avLst/>
          </a:prstGeom>
          <a:solidFill>
            <a:srgbClr val="F5F7F9"/>
          </a:solidFill>
          <a:ln>
            <a:noFill/>
          </a:ln>
        </p:spPr>
        <p:txBody>
          <a:bodyPr wrap="square" lIns="91440" tIns="91440" rIns="91440" bIns="91440" anchor="ctr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 dirty="0">
                <a:solidFill>
                  <a:srgbClr val="5B6474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 xml:space="preserve">≈ US$0.0028 per 15 s clip</a:t>
            </a:r>
          </a:p>
        </p:txBody>
      </p:sp>
      <p:sp>
        <p:nvSpPr>
          <p:cNvPr id="1051" name="Cell 1051"/>
          <p:cNvSpPr txBox="1"/>
          <p:nvPr/>
        </p:nvSpPr>
        <p:spPr>
          <a:xfrm>
            <a:off x="5605272" y="1728216"/>
            <a:ext cx="3154680" cy="457200"/>
          </a:xfrm>
          <a:prstGeom prst="rect">
            <a:avLst/>
          </a:prstGeom>
          <a:solidFill>
            <a:srgbClr val="F5F7F9"/>
          </a:solidFill>
          <a:ln>
            <a:noFill/>
          </a:ln>
        </p:spPr>
        <p:txBody>
          <a:bodyPr wrap="square" lIns="91440" tIns="91440" rIns="91440" bIns="91440" anchor="ctr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 dirty="0">
                <a:solidFill>
                  <a:srgbClr val="5B6474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 xml:space="preserve">Edge detection; Gemini for audits + Q&amp;A</a:t>
            </a:r>
          </a:p>
        </p:txBody>
      </p:sp>
      <p:sp>
        <p:nvSpPr>
          <p:cNvPr id="1052" name="Cell 1052"/>
          <p:cNvSpPr txBox="1"/>
          <p:nvPr/>
        </p:nvSpPr>
        <p:spPr>
          <a:xfrm>
            <a:off x="347472" y="2221992"/>
            <a:ext cx="2203704" cy="457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 anchor="ctr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 dirty="0">
                <a:solidFill>
                  <a:srgbClr val="1F2937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 xml:space="preserve">Cloud Run API</a:t>
            </a:r>
          </a:p>
        </p:txBody>
      </p:sp>
      <p:sp>
        <p:nvSpPr>
          <p:cNvPr id="1053" name="Cell 1053"/>
          <p:cNvSpPr txBox="1"/>
          <p:nvPr/>
        </p:nvSpPr>
        <p:spPr>
          <a:xfrm>
            <a:off x="2587752" y="2221992"/>
            <a:ext cx="2980944" cy="457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 anchor="ctr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 dirty="0">
                <a:solidFill>
                  <a:srgbClr val="5B6474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 xml:space="preserve">≈ US$10 / month (1 warm instance)</a:t>
            </a:r>
          </a:p>
        </p:txBody>
      </p:sp>
      <p:sp>
        <p:nvSpPr>
          <p:cNvPr id="1054" name="Cell 1054"/>
          <p:cNvSpPr txBox="1"/>
          <p:nvPr/>
        </p:nvSpPr>
        <p:spPr>
          <a:xfrm>
            <a:off x="5605272" y="2221992"/>
            <a:ext cx="3154680" cy="457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 anchor="ctr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 dirty="0">
                <a:solidFill>
                  <a:srgbClr val="5B6474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 xml:space="preserve">≈ US$10–20 / month shared</a:t>
            </a:r>
          </a:p>
        </p:txBody>
      </p:sp>
      <p:sp>
        <p:nvSpPr>
          <p:cNvPr id="1055" name="Cell 1055"/>
          <p:cNvSpPr txBox="1"/>
          <p:nvPr/>
        </p:nvSpPr>
        <p:spPr>
          <a:xfrm>
            <a:off x="347472" y="2715768"/>
            <a:ext cx="2203704" cy="457200"/>
          </a:xfrm>
          <a:prstGeom prst="rect">
            <a:avLst/>
          </a:prstGeom>
          <a:solidFill>
            <a:srgbClr val="F5F7F9"/>
          </a:solidFill>
          <a:ln>
            <a:noFill/>
          </a:ln>
        </p:spPr>
        <p:txBody>
          <a:bodyPr wrap="square" lIns="91440" tIns="91440" rIns="91440" bIns="91440" anchor="ctr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 dirty="0">
                <a:solidFill>
                  <a:srgbClr val="1F2937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 xml:space="preserve">Firestore + Hosting + Storage</a:t>
            </a:r>
          </a:p>
        </p:txBody>
      </p:sp>
      <p:sp>
        <p:nvSpPr>
          <p:cNvPr id="1056" name="Cell 1056"/>
          <p:cNvSpPr txBox="1"/>
          <p:nvPr/>
        </p:nvSpPr>
        <p:spPr>
          <a:xfrm>
            <a:off x="2587752" y="2715768"/>
            <a:ext cx="2980944" cy="457200"/>
          </a:xfrm>
          <a:prstGeom prst="rect">
            <a:avLst/>
          </a:prstGeom>
          <a:solidFill>
            <a:srgbClr val="F5F7F9"/>
          </a:solidFill>
          <a:ln>
            <a:noFill/>
          </a:ln>
        </p:spPr>
        <p:txBody>
          <a:bodyPr wrap="square" lIns="91440" tIns="91440" rIns="91440" bIns="91440" anchor="ctr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 dirty="0">
                <a:solidFill>
                  <a:srgbClr val="5B6474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 xml:space="preserve">Within free tier</a:t>
            </a:r>
          </a:p>
        </p:txBody>
      </p:sp>
      <p:sp>
        <p:nvSpPr>
          <p:cNvPr id="1057" name="Cell 1057"/>
          <p:cNvSpPr txBox="1"/>
          <p:nvPr/>
        </p:nvSpPr>
        <p:spPr>
          <a:xfrm>
            <a:off x="5605272" y="2715768"/>
            <a:ext cx="3154680" cy="457200"/>
          </a:xfrm>
          <a:prstGeom prst="rect">
            <a:avLst/>
          </a:prstGeom>
          <a:solidFill>
            <a:srgbClr val="F5F7F9"/>
          </a:solidFill>
          <a:ln>
            <a:noFill/>
          </a:ln>
        </p:spPr>
        <p:txBody>
          <a:bodyPr wrap="square" lIns="91440" tIns="91440" rIns="91440" bIns="91440" anchor="ctr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 dirty="0">
                <a:solidFill>
                  <a:srgbClr val="5B6474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 xml:space="preserve">&lt; US$5 / store / month</a:t>
            </a:r>
          </a:p>
        </p:txBody>
      </p:sp>
      <p:sp>
        <p:nvSpPr>
          <p:cNvPr id="1058" name="Cell 1058"/>
          <p:cNvSpPr txBox="1"/>
          <p:nvPr/>
        </p:nvSpPr>
        <p:spPr>
          <a:xfrm>
            <a:off x="347472" y="3209544"/>
            <a:ext cx="2203704" cy="457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 anchor="ctr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 dirty="0">
                <a:solidFill>
                  <a:srgbClr val="1F2937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 xml:space="preserve">Edge device</a:t>
            </a:r>
          </a:p>
        </p:txBody>
      </p:sp>
      <p:sp>
        <p:nvSpPr>
          <p:cNvPr id="1059" name="Cell 1059"/>
          <p:cNvSpPr txBox="1"/>
          <p:nvPr/>
        </p:nvSpPr>
        <p:spPr>
          <a:xfrm>
            <a:off x="2587752" y="3209544"/>
            <a:ext cx="2980944" cy="457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 anchor="ctr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 dirty="0">
                <a:solidFill>
                  <a:srgbClr val="5B6474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 xml:space="preserve">Not needed (clips)</a:t>
            </a:r>
          </a:p>
        </p:txBody>
      </p:sp>
      <p:sp>
        <p:nvSpPr>
          <p:cNvPr id="1060" name="Cell 1060"/>
          <p:cNvSpPr txBox="1"/>
          <p:nvPr/>
        </p:nvSpPr>
        <p:spPr>
          <a:xfrm>
            <a:off x="5605272" y="3209544"/>
            <a:ext cx="3154680" cy="457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 anchor="ctr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 dirty="0">
                <a:solidFill>
                  <a:srgbClr val="5B6474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 xml:space="preserve">≈ US$250 one-time (Jetson Orin Nano class)</a:t>
            </a:r>
          </a:p>
        </p:txBody>
      </p:sp>
      <p:sp>
        <p:nvSpPr>
          <p:cNvPr id="1061" name="Cell 1061"/>
          <p:cNvSpPr txBox="1"/>
          <p:nvPr/>
        </p:nvSpPr>
        <p:spPr>
          <a:xfrm>
            <a:off x="347472" y="3703320"/>
            <a:ext cx="2203704" cy="457200"/>
          </a:xfrm>
          <a:prstGeom prst="rect">
            <a:avLst/>
          </a:prstGeom>
          <a:solidFill>
            <a:srgbClr val="F5F7F9"/>
          </a:solidFill>
          <a:ln>
            <a:noFill/>
          </a:ln>
        </p:spPr>
        <p:txBody>
          <a:bodyPr wrap="square" lIns="91440" tIns="91440" rIns="91440" bIns="91440" anchor="ctr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 dirty="0">
                <a:solidFill>
                  <a:srgbClr val="1F2937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 xml:space="preserve">Cameras</a:t>
            </a:r>
          </a:p>
        </p:txBody>
      </p:sp>
      <p:sp>
        <p:nvSpPr>
          <p:cNvPr id="1062" name="Cell 1062"/>
          <p:cNvSpPr txBox="1"/>
          <p:nvPr/>
        </p:nvSpPr>
        <p:spPr>
          <a:xfrm>
            <a:off x="2587752" y="3703320"/>
            <a:ext cx="2980944" cy="457200"/>
          </a:xfrm>
          <a:prstGeom prst="rect">
            <a:avLst/>
          </a:prstGeom>
          <a:solidFill>
            <a:srgbClr val="F5F7F9"/>
          </a:solidFill>
          <a:ln>
            <a:noFill/>
          </a:ln>
        </p:spPr>
        <p:txBody>
          <a:bodyPr wrap="square" lIns="91440" tIns="91440" rIns="91440" bIns="91440" anchor="ctr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 dirty="0">
                <a:solidFill>
                  <a:srgbClr val="5B6474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 xml:space="preserve">Existing</a:t>
            </a:r>
          </a:p>
        </p:txBody>
      </p:sp>
      <p:sp>
        <p:nvSpPr>
          <p:cNvPr id="1063" name="Cell 1063"/>
          <p:cNvSpPr txBox="1"/>
          <p:nvPr/>
        </p:nvSpPr>
        <p:spPr>
          <a:xfrm>
            <a:off x="5605272" y="3703320"/>
            <a:ext cx="3154680" cy="457200"/>
          </a:xfrm>
          <a:prstGeom prst="rect">
            <a:avLst/>
          </a:prstGeom>
          <a:solidFill>
            <a:srgbClr val="F5F7F9"/>
          </a:solidFill>
          <a:ln>
            <a:noFill/>
          </a:ln>
        </p:spPr>
        <p:txBody>
          <a:bodyPr wrap="square" lIns="91440" tIns="91440" rIns="91440" bIns="91440" anchor="ctr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 dirty="0">
                <a:solidFill>
                  <a:srgbClr val="5B6474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 xml:space="preserve">Existing IP cameras</a:t>
            </a:r>
          </a:p>
        </p:txBody>
      </p:sp>
      <p:sp>
        <p:nvSpPr>
          <p:cNvPr id="1064" name="Note 1064"/>
          <p:cNvSpPr txBox="1"/>
          <p:nvPr/>
        </p:nvSpPr>
        <p:spPr>
          <a:xfrm>
            <a:off x="347472" y="4270248"/>
            <a:ext cx="8412480" cy="64008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normAutofit/>
          </a:bodyPr>
          <a:lstStyle/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n-GB" sz="900" dirty="0">
                <a:solidFill>
                  <a:srgbClr val="5B6474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 xml:space="preserve">Per-clip cost uses measured median tokens (2,020 in / 594 out) at Gemini 3 Flash list price (US$0.50 / US$3.00 per million). Other figures are estimates to be confirmed in a pilot. Because raw video never leaves the store in production, cloud cost stays small and flat per store.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" name="Google Shape;132;p23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23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23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23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Snapshots of the prototype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pic>
        <p:nvPicPr>
          <p:cNvPr id="1065" name="Live analysis: Gemini counts per zone with a clickable event log 1065" descr="Live analysis: Gemini counts per zone with a clickable event lo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9910" y="1143000"/>
            <a:ext cx="3405351" cy="1481328"/>
          </a:xfrm>
          <a:prstGeom prst="rect">
            <a:avLst/>
          </a:prstGeom>
          <a:ln w="9525">
            <a:solidFill>
              <a:srgbClr val="D9DEE4"/>
            </a:solidFill>
          </a:ln>
        </p:spPr>
      </p:pic>
      <p:sp>
        <p:nvSpPr>
          <p:cNvPr id="1066" name="Caption 1066"/>
          <p:cNvSpPr txBox="1"/>
          <p:nvPr/>
        </p:nvSpPr>
        <p:spPr>
          <a:xfrm>
            <a:off x="347472" y="2633472"/>
            <a:ext cx="4110227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 anchor="t">
            <a:norm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dirty="0">
                <a:solidFill>
                  <a:srgbClr val="5B6474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 xml:space="preserve">Live analysis: Gemini counts per zone with a clickable event log</a:t>
            </a:r>
          </a:p>
        </p:txBody>
      </p:sp>
      <p:pic>
        <p:nvPicPr>
          <p:cNvPr id="1067" name="Overview: KPIs, Gemini weekly summary, footfall by hour 1067" descr="Overview: KPIs, Gemini weekly summary, footfall by hour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38738" y="1143000"/>
            <a:ext cx="3405351" cy="1481328"/>
          </a:xfrm>
          <a:prstGeom prst="rect">
            <a:avLst/>
          </a:prstGeom>
          <a:ln w="9525">
            <a:solidFill>
              <a:srgbClr val="D9DEE4"/>
            </a:solidFill>
          </a:ln>
        </p:spPr>
      </p:pic>
      <p:sp>
        <p:nvSpPr>
          <p:cNvPr id="1068" name="Caption 1068"/>
          <p:cNvSpPr txBox="1"/>
          <p:nvPr/>
        </p:nvSpPr>
        <p:spPr>
          <a:xfrm>
            <a:off x="4686299" y="2633472"/>
            <a:ext cx="4110227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 anchor="t">
            <a:norm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dirty="0">
                <a:solidFill>
                  <a:srgbClr val="5B6474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 xml:space="preserve">Overview: KPIs, Gemini weekly summary, footfall by hour</a:t>
            </a:r>
          </a:p>
        </p:txBody>
      </p:sp>
      <p:pic>
        <p:nvPicPr>
          <p:cNvPr id="1069" name="Ask ShelfSense: grounded answers citing shelves 1069" descr="Ask ShelfSense: grounded answers citing shelves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9910" y="2971800"/>
            <a:ext cx="3405351" cy="1481328"/>
          </a:xfrm>
          <a:prstGeom prst="rect">
            <a:avLst/>
          </a:prstGeom>
          <a:ln w="9525">
            <a:solidFill>
              <a:srgbClr val="D9DEE4"/>
            </a:solidFill>
          </a:ln>
        </p:spPr>
      </p:pic>
      <p:sp>
        <p:nvSpPr>
          <p:cNvPr id="1070" name="Caption 1070"/>
          <p:cNvSpPr txBox="1"/>
          <p:nvPr/>
        </p:nvSpPr>
        <p:spPr>
          <a:xfrm>
            <a:off x="347472" y="4462272"/>
            <a:ext cx="4110227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 anchor="t">
            <a:norm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dirty="0">
                <a:solidFill>
                  <a:srgbClr val="5B6474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 xml:space="preserve">Ask ShelfSense: grounded answers citing shelves</a:t>
            </a:r>
          </a:p>
        </p:txBody>
      </p:sp>
      <p:pic>
        <p:nvPicPr>
          <p:cNvPr id="1071" name="Pricing table with audience fit 1071" descr="Pricing table with audience fit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38738" y="2971800"/>
            <a:ext cx="3405351" cy="1481328"/>
          </a:xfrm>
          <a:prstGeom prst="rect">
            <a:avLst/>
          </a:prstGeom>
          <a:ln w="9525">
            <a:solidFill>
              <a:srgbClr val="D9DEE4"/>
            </a:solidFill>
          </a:ln>
        </p:spPr>
      </p:pic>
      <p:sp>
        <p:nvSpPr>
          <p:cNvPr id="1072" name="Caption 1072"/>
          <p:cNvSpPr txBox="1"/>
          <p:nvPr/>
        </p:nvSpPr>
        <p:spPr>
          <a:xfrm>
            <a:off x="4686299" y="4462272"/>
            <a:ext cx="4110227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 anchor="t">
            <a:norm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dirty="0">
                <a:solidFill>
                  <a:srgbClr val="5B6474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 xml:space="preserve">Pricing table with audience fit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" name="Google Shape;140;p24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24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24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24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Prototype Performance report/Benchmarking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1073" name="Stat 1073"/>
          <p:cNvSpPr txBox="1"/>
          <p:nvPr/>
        </p:nvSpPr>
        <p:spPr>
          <a:xfrm>
            <a:off x="347472" y="1188720"/>
            <a:ext cx="2011680" cy="1143000"/>
          </a:xfrm>
          <a:prstGeom prst="roundRect">
            <a:avLst>
              <a:gd name="adj" fmla="val 8000"/>
            </a:avLst>
          </a:prstGeom>
          <a:solidFill>
            <a:srgbClr val="E6F4F1"/>
          </a:solidFill>
          <a:ln>
            <a:noFill/>
          </a:ln>
        </p:spPr>
        <p:txBody>
          <a:bodyPr wrap="square" lIns="109728" tIns="109728" rIns="109728" bIns="109728" anchor="t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 dirty="0">
                <a:solidFill>
                  <a:srgbClr val="0F766E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 xml:space="preserve">5.2 s</a:t>
            </a:r>
          </a:p>
          <a:p>
            <a:pPr marL="0" indent="0" algn="l">
              <a:spcBef>
                <a:spcPts val="0"/>
              </a:spcBef>
              <a:spcAft>
                <a:spcPts val="100"/>
              </a:spcAft>
              <a:buNone/>
            </a:pPr>
            <a:r>
              <a:rPr lang="en-GB" sz="1050" dirty="0">
                <a:solidFill>
                  <a:srgbClr val="1F2937"/>
                </a:solidFill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 xml:space="preserve">Gemini video analysis</a:t>
            </a:r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50" dirty="0">
                <a:solidFill>
                  <a:srgbClr val="5B6474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 xml:space="preserve">median, end to end · worst 7.3 s</a:t>
            </a:r>
          </a:p>
        </p:txBody>
      </p:sp>
      <p:sp>
        <p:nvSpPr>
          <p:cNvPr id="1074" name="Stat 1074"/>
          <p:cNvSpPr txBox="1"/>
          <p:nvPr/>
        </p:nvSpPr>
        <p:spPr>
          <a:xfrm>
            <a:off x="2487168" y="1188720"/>
            <a:ext cx="2011680" cy="1143000"/>
          </a:xfrm>
          <a:prstGeom prst="roundRect">
            <a:avLst>
              <a:gd name="adj" fmla="val 8000"/>
            </a:avLst>
          </a:prstGeom>
          <a:solidFill>
            <a:srgbClr val="E6F4F1"/>
          </a:solidFill>
          <a:ln>
            <a:noFill/>
          </a:ln>
        </p:spPr>
        <p:txBody>
          <a:bodyPr wrap="square" lIns="109728" tIns="109728" rIns="109728" bIns="109728" anchor="t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 dirty="0">
                <a:solidFill>
                  <a:srgbClr val="0F766E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 xml:space="preserve">2.8 s</a:t>
            </a:r>
          </a:p>
          <a:p>
            <a:pPr marL="0" indent="0" algn="l">
              <a:spcBef>
                <a:spcPts val="0"/>
              </a:spcBef>
              <a:spcAft>
                <a:spcPts val="100"/>
              </a:spcAft>
              <a:buNone/>
            </a:pPr>
            <a:r>
              <a:rPr lang="en-GB" sz="1050" dirty="0">
                <a:solidFill>
                  <a:srgbClr val="1F2937"/>
                </a:solidFill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 xml:space="preserve">Ask ShelfSense answer</a:t>
            </a:r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50" dirty="0">
                <a:solidFill>
                  <a:srgbClr val="5B6474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 xml:space="preserve">5 questions · worst 3.4 s</a:t>
            </a:r>
          </a:p>
        </p:txBody>
      </p:sp>
      <p:sp>
        <p:nvSpPr>
          <p:cNvPr id="1075" name="Stat 1075"/>
          <p:cNvSpPr txBox="1"/>
          <p:nvPr/>
        </p:nvSpPr>
        <p:spPr>
          <a:xfrm>
            <a:off x="4626864" y="1188720"/>
            <a:ext cx="2011680" cy="1143000"/>
          </a:xfrm>
          <a:prstGeom prst="roundRect">
            <a:avLst>
              <a:gd name="adj" fmla="val 8000"/>
            </a:avLst>
          </a:prstGeom>
          <a:solidFill>
            <a:srgbClr val="E6F4F1"/>
          </a:solidFill>
          <a:ln>
            <a:noFill/>
          </a:ln>
        </p:spPr>
        <p:txBody>
          <a:bodyPr wrap="square" lIns="109728" tIns="109728" rIns="109728" bIns="109728" anchor="t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 dirty="0">
                <a:solidFill>
                  <a:srgbClr val="0F766E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 xml:space="preserve">0.78 s</a:t>
            </a:r>
          </a:p>
          <a:p>
            <a:pPr marL="0" indent="0" algn="l">
              <a:spcBef>
                <a:spcPts val="0"/>
              </a:spcBef>
              <a:spcAft>
                <a:spcPts val="100"/>
              </a:spcAft>
              <a:buNone/>
            </a:pPr>
            <a:r>
              <a:rPr lang="en-GB" sz="1050" dirty="0">
                <a:solidFill>
                  <a:srgbClr val="1F2937"/>
                </a:solidFill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 xml:space="preserve">Dashboard API</a:t>
            </a:r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50" dirty="0">
                <a:solidFill>
                  <a:srgbClr val="5B6474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 xml:space="preserve">median /store response, 10 calls</a:t>
            </a:r>
          </a:p>
        </p:txBody>
      </p:sp>
      <p:sp>
        <p:nvSpPr>
          <p:cNvPr id="1076" name="Stat 1076"/>
          <p:cNvSpPr txBox="1"/>
          <p:nvPr/>
        </p:nvSpPr>
        <p:spPr>
          <a:xfrm>
            <a:off x="6766559" y="1188720"/>
            <a:ext cx="2011680" cy="1143000"/>
          </a:xfrm>
          <a:prstGeom prst="roundRect">
            <a:avLst>
              <a:gd name="adj" fmla="val 8000"/>
            </a:avLst>
          </a:prstGeom>
          <a:solidFill>
            <a:srgbClr val="E6F4F1"/>
          </a:solidFill>
          <a:ln>
            <a:noFill/>
          </a:ln>
        </p:spPr>
        <p:txBody>
          <a:bodyPr wrap="square" lIns="109728" tIns="109728" rIns="109728" bIns="109728" anchor="t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 dirty="0">
                <a:solidFill>
                  <a:srgbClr val="0F766E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 xml:space="preserve">12 / 12</a:t>
            </a:r>
          </a:p>
          <a:p>
            <a:pPr marL="0" indent="0" algn="l">
              <a:spcBef>
                <a:spcPts val="0"/>
              </a:spcBef>
              <a:spcAft>
                <a:spcPts val="100"/>
              </a:spcAft>
              <a:buNone/>
            </a:pPr>
            <a:r>
              <a:rPr lang="en-GB" sz="1050" dirty="0">
                <a:solidFill>
                  <a:srgbClr val="1F2937"/>
                </a:solidFill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 xml:space="preserve">Schema-valid results</a:t>
            </a:r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50" dirty="0">
                <a:solidFill>
                  <a:srgbClr val="5B6474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 xml:space="preserve">every video run parsed into the JSON schema</a:t>
            </a:r>
          </a:p>
        </p:txBody>
      </p:sp>
      <p:sp>
        <p:nvSpPr>
          <p:cNvPr id="1077" name="Consistency 1077"/>
          <p:cNvSpPr txBox="1"/>
          <p:nvPr/>
        </p:nvSpPr>
        <p:spPr>
          <a:xfrm>
            <a:off x="347472" y="2514600"/>
            <a:ext cx="4114800" cy="2011680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anchor="t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400"/>
              </a:spcAft>
              <a:buNone/>
            </a:pPr>
            <a:r>
              <a:rPr lang="en-GB" sz="1200" dirty="0">
                <a:solidFill>
                  <a:srgbClr val="1F2937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 xml:space="preserve">Consistency across repeated runs</a:t>
            </a:r>
          </a:p>
          <a:p>
            <a:pPr marL="171450" indent="-171450" algn="l">
              <a:spcBef>
                <a:spcPts val="0"/>
              </a:spcBef>
              <a:spcAft>
                <a:spcPts val="300"/>
              </a:spcAft>
              <a:buClr>
                <a:srgbClr val="0F766E"/>
              </a:buClr>
              <a:buSzPct val="100000"/>
              <a:buFont typeface="Arial"/>
              <a:buChar char="•"/>
            </a:pPr>
            <a:r>
              <a:rPr lang="en-GB" sz="1000" dirty="0">
                <a:solidFill>
                  <a:srgbClr val="5B6474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 xml:space="preserve">Same clip, 3 runs each. Total people counted: produce hall [18, 18, 18], aisle 28 [12, 12, 12], aisle 6 [12, 12, 12], aisle 1 [3, 2, 2].</a:t>
            </a:r>
          </a:p>
          <a:p>
            <a:pPr marL="171450" indent="-171450" algn="l">
              <a:spcBef>
                <a:spcPts val="0"/>
              </a:spcBef>
              <a:spcAft>
                <a:spcPts val="300"/>
              </a:spcAft>
              <a:buClr>
                <a:srgbClr val="0F766E"/>
              </a:buClr>
              <a:buSzPct val="100000"/>
              <a:buFont typeface="Arial"/>
              <a:buChar char="•"/>
            </a:pPr>
            <a:r>
              <a:rPr lang="en-GB" sz="1000" dirty="0">
                <a:solidFill>
                  <a:srgbClr val="5B6474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 xml:space="preserve">Per-zone counts vary most in the busiest zone (produce hall middle: 8–12 visitors).</a:t>
            </a:r>
          </a:p>
          <a:p>
            <a:pPr marL="171450" indent="-171450" algn="l"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ct val="100000"/>
              <a:buFont typeface="Arial"/>
              <a:buChar char="•"/>
            </a:pPr>
            <a:r>
              <a:rPr lang="en-GB" sz="1000" dirty="0">
                <a:solidFill>
                  <a:srgbClr val="5B6474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 xml:space="preserve">≈ 2,020 input / 594 output tokens per 15 s clip.</a:t>
            </a:r>
          </a:p>
        </p:txBody>
      </p:sp>
      <p:sp>
        <p:nvSpPr>
          <p:cNvPr id="1078" name="Method 1078"/>
          <p:cNvSpPr txBox="1"/>
          <p:nvPr/>
        </p:nvSpPr>
        <p:spPr>
          <a:xfrm>
            <a:off x="4663440" y="2514600"/>
            <a:ext cx="4114800" cy="2011680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anchor="t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400"/>
              </a:spcAft>
              <a:buNone/>
            </a:pPr>
            <a:r>
              <a:rPr lang="en-GB" sz="1200" dirty="0">
                <a:solidFill>
                  <a:srgbClr val="1F2937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 xml:space="preserve">Method and limits</a:t>
            </a:r>
          </a:p>
          <a:p>
            <a:pPr marL="171450" indent="-171450" algn="l">
              <a:spcBef>
                <a:spcPts val="0"/>
              </a:spcBef>
              <a:spcAft>
                <a:spcPts val="300"/>
              </a:spcAft>
              <a:buClr>
                <a:srgbClr val="0F766E"/>
              </a:buClr>
              <a:buSzPct val="100000"/>
              <a:buFont typeface="Arial"/>
              <a:buChar char="•"/>
            </a:pPr>
            <a:r>
              <a:rPr lang="en-GB" sz="1000" dirty="0">
                <a:solidFill>
                  <a:srgbClr val="5B6474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 xml:space="preserve">Measured on the live deployment (Firebase Hosting → Cloud Run → Vertex AI), 18 Oct 2026, scripts/benchmark.py in the repo.</a:t>
            </a:r>
          </a:p>
          <a:p>
            <a:pPr marL="171450" indent="-171450" algn="l">
              <a:spcBef>
                <a:spcPts val="0"/>
              </a:spcBef>
              <a:spcAft>
                <a:spcPts val="300"/>
              </a:spcAft>
              <a:buClr>
                <a:srgbClr val="0F766E"/>
              </a:buClr>
              <a:buSzPct val="100000"/>
              <a:buFont typeface="Arial"/>
              <a:buChar char="•"/>
            </a:pPr>
            <a:r>
              <a:rPr lang="en-GB" sz="1000" dirty="0">
                <a:solidFill>
                  <a:srgbClr val="5B6474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 xml:space="preserve">Count accuracy is not yet scored against hand labels. Next: the MERL Shopping dataset's labelled reach events, then a store pilot.</a:t>
            </a:r>
          </a:p>
          <a:p>
            <a:pPr marL="171450" indent="-171450" algn="l"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ct val="100000"/>
              <a:buFont typeface="Arial"/>
              <a:buChar char="•"/>
            </a:pPr>
            <a:r>
              <a:rPr lang="en-GB" sz="1000" dirty="0">
                <a:solidFill>
                  <a:srgbClr val="5B6474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 xml:space="preserve">Model: gemini-3-flash-preview, low thinking, medium media resolution.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8" name="Google Shape;148;p25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25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25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25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Additional Details/Future Development (if any)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1079" name="Card 1079"/>
          <p:cNvSpPr txBox="1"/>
          <p:nvPr/>
        </p:nvSpPr>
        <p:spPr>
          <a:xfrm>
            <a:off x="347472" y="1234440"/>
            <a:ext cx="2679192" cy="2240280"/>
          </a:xfrm>
          <a:prstGeom prst="roundRect">
            <a:avLst>
              <a:gd name="adj" fmla="val 6000"/>
            </a:avLst>
          </a:prstGeom>
          <a:solidFill>
            <a:srgbClr val="F5F7F9"/>
          </a:solidFill>
          <a:ln>
            <a:noFill/>
          </a:ln>
        </p:spPr>
        <p:txBody>
          <a:bodyPr wrap="square" lIns="109728" tIns="109728" rIns="109728" bIns="109728" anchor="t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200"/>
              </a:spcAft>
              <a:buNone/>
            </a:pPr>
            <a:r>
              <a:rPr lang="en-GB" sz="850" dirty="0">
                <a:solidFill>
                  <a:srgbClr val="0F766E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 xml:space="preserve">PILOT · MONTHS 1–3</a:t>
            </a:r>
          </a:p>
          <a:p>
            <a:pPr marL="0" indent="0" algn="l">
              <a:spcBef>
                <a:spcPts val="0"/>
              </a:spcBef>
              <a:spcAft>
                <a:spcPts val="400"/>
              </a:spcAft>
              <a:buNone/>
            </a:pPr>
            <a:r>
              <a:rPr lang="en-GB" sz="1200" dirty="0">
                <a:solidFill>
                  <a:srgbClr val="1F2937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 xml:space="preserve">One chain, 3–5 stores</a:t>
            </a:r>
          </a:p>
          <a:p>
            <a:pPr marL="0" indent="0" algn="l">
              <a:spcBef>
                <a:spcPts val="0"/>
              </a:spcBef>
              <a:spcAft>
                <a:spcPts val="300"/>
              </a:spcAft>
              <a:buNone/>
            </a:pPr>
            <a:r>
              <a:rPr lang="en-GB" sz="1100" dirty="0">
                <a:solidFill>
                  <a:srgbClr val="5B6474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 xml:space="preserve">• In-store edge box: detection + tracking on device, only counts leave</a:t>
            </a:r>
          </a:p>
          <a:p>
            <a:pPr marL="0" indent="0" algn="l">
              <a:spcBef>
                <a:spcPts val="0"/>
              </a:spcBef>
              <a:spcAft>
                <a:spcPts val="300"/>
              </a:spcAft>
              <a:buNone/>
            </a:pPr>
            <a:r>
              <a:rPr lang="en-GB" sz="1100" dirty="0">
                <a:solidFill>
                  <a:srgbClr val="5B6474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 xml:space="preserve">• Calibrate SVI weights against POS data</a:t>
            </a:r>
          </a:p>
          <a:p>
            <a:pPr marL="0" indent="0" algn="l">
              <a:spcBef>
                <a:spcPts val="0"/>
              </a:spcBef>
              <a:spcAft>
                <a:spcPts val="300"/>
              </a:spcAft>
              <a:buNone/>
            </a:pPr>
            <a:r>
              <a:rPr lang="en-GB" sz="1100" dirty="0">
                <a:solidFill>
                  <a:srgbClr val="5B6474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 xml:space="preserve">• Face blurring at the first step</a:t>
            </a:r>
          </a:p>
        </p:txBody>
      </p:sp>
      <p:sp>
        <p:nvSpPr>
          <p:cNvPr id="1080" name="Card 1080"/>
          <p:cNvSpPr txBox="1"/>
          <p:nvPr/>
        </p:nvSpPr>
        <p:spPr>
          <a:xfrm>
            <a:off x="3246120" y="1234440"/>
            <a:ext cx="2679192" cy="2240280"/>
          </a:xfrm>
          <a:prstGeom prst="roundRect">
            <a:avLst>
              <a:gd name="adj" fmla="val 6000"/>
            </a:avLst>
          </a:prstGeom>
          <a:solidFill>
            <a:srgbClr val="F5F7F9"/>
          </a:solidFill>
          <a:ln>
            <a:noFill/>
          </a:ln>
        </p:spPr>
        <p:txBody>
          <a:bodyPr wrap="square" lIns="109728" tIns="109728" rIns="109728" bIns="109728" anchor="t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200"/>
              </a:spcAft>
              <a:buNone/>
            </a:pPr>
            <a:r>
              <a:rPr lang="en-GB" sz="850" dirty="0">
                <a:solidFill>
                  <a:srgbClr val="0F766E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 xml:space="preserve">PRODUCT · MONTHS 4–9</a:t>
            </a:r>
          </a:p>
          <a:p>
            <a:pPr marL="0" indent="0" algn="l">
              <a:spcBef>
                <a:spcPts val="0"/>
              </a:spcBef>
              <a:spcAft>
                <a:spcPts val="400"/>
              </a:spcAft>
              <a:buNone/>
            </a:pPr>
            <a:r>
              <a:rPr lang="en-GB" sz="1200" dirty="0">
                <a:solidFill>
                  <a:srgbClr val="1F2937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 xml:space="preserve">Multi-store platform</a:t>
            </a:r>
          </a:p>
          <a:p>
            <a:pPr marL="0" indent="0" algn="l">
              <a:spcBef>
                <a:spcPts val="0"/>
              </a:spcBef>
              <a:spcAft>
                <a:spcPts val="300"/>
              </a:spcAft>
              <a:buNone/>
            </a:pPr>
            <a:r>
              <a:rPr lang="en-GB" sz="1100" dirty="0">
                <a:solidFill>
                  <a:srgbClr val="5B6474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 xml:space="preserve">• Firebase Auth with retailer / brand tenants</a:t>
            </a:r>
          </a:p>
          <a:p>
            <a:pPr marL="0" indent="0" algn="l">
              <a:spcBef>
                <a:spcPts val="0"/>
              </a:spcBef>
              <a:spcAft>
                <a:spcPts val="300"/>
              </a:spcAft>
              <a:buNone/>
            </a:pPr>
            <a:r>
              <a:rPr lang="en-GB" sz="1100" dirty="0">
                <a:solidFill>
                  <a:srgbClr val="5B6474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 xml:space="preserve">• Brand portal and automated reach reports</a:t>
            </a:r>
          </a:p>
          <a:p>
            <a:pPr marL="0" indent="0" algn="l">
              <a:spcBef>
                <a:spcPts val="0"/>
              </a:spcBef>
              <a:spcAft>
                <a:spcPts val="300"/>
              </a:spcAft>
              <a:buNone/>
            </a:pPr>
            <a:r>
              <a:rPr lang="en-GB" sz="1100" dirty="0">
                <a:solidFill>
                  <a:srgbClr val="5B6474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 xml:space="preserve">• Store-manager mobile app</a:t>
            </a:r>
          </a:p>
        </p:txBody>
      </p:sp>
      <p:sp>
        <p:nvSpPr>
          <p:cNvPr id="1081" name="Card 1081"/>
          <p:cNvSpPr txBox="1"/>
          <p:nvPr/>
        </p:nvSpPr>
        <p:spPr>
          <a:xfrm>
            <a:off x="6144768" y="1234440"/>
            <a:ext cx="2679192" cy="2240280"/>
          </a:xfrm>
          <a:prstGeom prst="roundRect">
            <a:avLst>
              <a:gd name="adj" fmla="val 6000"/>
            </a:avLst>
          </a:prstGeom>
          <a:solidFill>
            <a:srgbClr val="F5F7F9"/>
          </a:solidFill>
          <a:ln>
            <a:noFill/>
          </a:ln>
        </p:spPr>
        <p:txBody>
          <a:bodyPr wrap="square" lIns="109728" tIns="109728" rIns="109728" bIns="109728" anchor="t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200"/>
              </a:spcAft>
              <a:buNone/>
            </a:pPr>
            <a:r>
              <a:rPr lang="en-GB" sz="850" dirty="0">
                <a:solidFill>
                  <a:srgbClr val="0F766E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 xml:space="preserve">SCALE · MONTHS 10–18</a:t>
            </a:r>
          </a:p>
          <a:p>
            <a:pPr marL="0" indent="0" algn="l">
              <a:spcBef>
                <a:spcPts val="0"/>
              </a:spcBef>
              <a:spcAft>
                <a:spcPts val="400"/>
              </a:spcAft>
              <a:buNone/>
            </a:pPr>
            <a:r>
              <a:rPr lang="en-GB" sz="1200" dirty="0">
                <a:solidFill>
                  <a:srgbClr val="1F2937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 xml:space="preserve">Marketplace</a:t>
            </a:r>
          </a:p>
          <a:p>
            <a:pPr marL="0" indent="0" algn="l">
              <a:spcBef>
                <a:spcPts val="0"/>
              </a:spcBef>
              <a:spcAft>
                <a:spcPts val="300"/>
              </a:spcAft>
              <a:buNone/>
            </a:pPr>
            <a:r>
              <a:rPr lang="en-GB" sz="1100" dirty="0">
                <a:solidFill>
                  <a:srgbClr val="5B6474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 xml:space="preserve">• More chains, cross-chain brand benchmarks</a:t>
            </a:r>
          </a:p>
          <a:p>
            <a:pPr marL="0" indent="0" algn="l">
              <a:spcBef>
                <a:spcPts val="0"/>
              </a:spcBef>
              <a:spcAft>
                <a:spcPts val="300"/>
              </a:spcAft>
              <a:buNone/>
            </a:pPr>
            <a:r>
              <a:rPr lang="en-GB" sz="1100" dirty="0">
                <a:solidFill>
                  <a:srgbClr val="5B6474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 xml:space="preserve">• Book shelf space at the suggested price</a:t>
            </a:r>
          </a:p>
          <a:p>
            <a:pPr marL="0" indent="0" algn="l">
              <a:spcBef>
                <a:spcPts val="0"/>
              </a:spcBef>
              <a:spcAft>
                <a:spcPts val="300"/>
              </a:spcAft>
              <a:buNone/>
            </a:pPr>
            <a:r>
              <a:rPr lang="en-GB" sz="1100" dirty="0">
                <a:solidFill>
                  <a:srgbClr val="5B6474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 xml:space="preserve">• Export to similar emerging markets</a:t>
            </a:r>
          </a:p>
        </p:txBody>
      </p:sp>
      <p:sp>
        <p:nvSpPr>
          <p:cNvPr id="1082" name="Note 1082"/>
          <p:cNvSpPr txBox="1"/>
          <p:nvPr/>
        </p:nvSpPr>
        <p:spPr>
          <a:xfrm>
            <a:off x="347472" y="3639312"/>
            <a:ext cx="8412480" cy="54864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normAutofit/>
          </a:bodyPr>
          <a:lstStyle/>
          <a:p>
            <a:pPr marL="0" indent="0"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n-GB" sz="950" dirty="0">
                <a:solidFill>
                  <a:srgbClr val="5B6474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 xml:space="preserve">Privacy roadmap: no face images or embeddings, no tracking across days or stores, signage in store, and a DPIA before the pilot. We design to GDPR-style principles while Pakistan's data-protection bill is still a draft.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6" name="Google Shape;156;p26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26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26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3" name="Title 1083"/>
          <p:cNvSpPr txBox="1"/>
          <p:nvPr/>
        </p:nvSpPr>
        <p:spPr>
          <a:xfrm>
            <a:off x="242316" y="603504"/>
            <a:ext cx="8138160" cy="457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 anchor="t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400"/>
              </a:spcAft>
              <a:buNone/>
            </a:pPr>
            <a:r>
              <a:rPr lang="en-GB" sz="1600" dirty="0">
                <a:solidFill>
                  <a:srgbClr val="1F2937"/>
                </a:solidFill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 xml:space="preserve">Provide links to your:</a:t>
            </a:r>
          </a:p>
        </p:txBody>
      </p:sp>
      <p:sp>
        <p:nvSpPr>
          <p:cNvPr id="1084" name="Link 1084"/>
          <p:cNvSpPr txBox="1"/>
          <p:nvPr/>
        </p:nvSpPr>
        <p:spPr>
          <a:xfrm>
            <a:off x="347472" y="1325880"/>
            <a:ext cx="8449056" cy="804672"/>
          </a:xfrm>
          <a:prstGeom prst="roundRect">
            <a:avLst>
              <a:gd name="adj" fmla="val 10000"/>
            </a:avLst>
          </a:prstGeom>
          <a:solidFill>
            <a:srgbClr val="F5F7F9"/>
          </a:solidFill>
          <a:ln>
            <a:noFill/>
          </a:ln>
        </p:spPr>
        <p:txBody>
          <a:bodyPr wrap="square" lIns="146304" tIns="146304" rIns="146304" bIns="146304" anchor="ctr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200"/>
              </a:spcAft>
              <a:buNone/>
            </a:pPr>
            <a:r>
              <a:rPr lang="en-GB" sz="1100" dirty="0">
                <a:solidFill>
                  <a:srgbClr val="5B6474"/>
                </a:solidFill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 xml:space="preserve">GitHub Public Repository</a:t>
            </a:r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 dirty="0">
                <a:solidFill>
                  <a:srgbClr val="0F766E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  <a:hlinkClick r:id="rId5"/>
              </a:rPr>
              <a:t xml:space="preserve">https://github.com/MohsiinShah/ShelfSense</a:t>
            </a:r>
          </a:p>
        </p:txBody>
      </p:sp>
      <p:sp>
        <p:nvSpPr>
          <p:cNvPr id="1085" name="Link 1085"/>
          <p:cNvSpPr txBox="1"/>
          <p:nvPr/>
        </p:nvSpPr>
        <p:spPr>
          <a:xfrm>
            <a:off x="347472" y="2313432"/>
            <a:ext cx="8449056" cy="804672"/>
          </a:xfrm>
          <a:prstGeom prst="roundRect">
            <a:avLst>
              <a:gd name="adj" fmla="val 10000"/>
            </a:avLst>
          </a:prstGeom>
          <a:solidFill>
            <a:srgbClr val="F5F7F9"/>
          </a:solidFill>
          <a:ln>
            <a:noFill/>
          </a:ln>
        </p:spPr>
        <p:txBody>
          <a:bodyPr wrap="square" lIns="146304" tIns="146304" rIns="146304" bIns="146304" anchor="ctr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200"/>
              </a:spcAft>
              <a:buNone/>
            </a:pPr>
            <a:r>
              <a:rPr lang="en-GB" sz="1100" dirty="0">
                <a:solidFill>
                  <a:srgbClr val="5B6474"/>
                </a:solidFill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 xml:space="preserve">Demo Video Link (3 Minutes)</a:t>
            </a:r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 dirty="0">
                <a:solidFill>
                  <a:srgbClr val="0F766E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  <a:hlinkClick r:id="rId6"/>
              </a:rPr>
              <a:t xml:space="preserve">https://youtu.be/9HP-f7Th4XY</a:t>
            </a:r>
          </a:p>
        </p:txBody>
      </p:sp>
      <p:sp>
        <p:nvSpPr>
          <p:cNvPr id="1086" name="Link 1086"/>
          <p:cNvSpPr txBox="1"/>
          <p:nvPr/>
        </p:nvSpPr>
        <p:spPr>
          <a:xfrm>
            <a:off x="347472" y="3300984"/>
            <a:ext cx="8449056" cy="804672"/>
          </a:xfrm>
          <a:prstGeom prst="roundRect">
            <a:avLst>
              <a:gd name="adj" fmla="val 10000"/>
            </a:avLst>
          </a:prstGeom>
          <a:solidFill>
            <a:srgbClr val="F5F7F9"/>
          </a:solidFill>
          <a:ln>
            <a:noFill/>
          </a:ln>
        </p:spPr>
        <p:txBody>
          <a:bodyPr wrap="square" lIns="146304" tIns="146304" rIns="146304" bIns="146304" anchor="ctr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200"/>
              </a:spcAft>
              <a:buNone/>
            </a:pPr>
            <a:r>
              <a:rPr lang="en-GB" sz="1100" dirty="0">
                <a:solidFill>
                  <a:srgbClr val="5B6474"/>
                </a:solidFill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 xml:space="preserve">Final Product Link</a:t>
            </a:r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 dirty="0">
                <a:solidFill>
                  <a:srgbClr val="0F766E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  <a:hlinkClick r:id="rId7"/>
              </a:rPr>
              <a:t xml:space="preserve">https://shelfsense-demo.web.app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4" name="Google Shape;164;p27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27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27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7" name="Title 1087"/>
          <p:cNvSpPr txBox="1"/>
          <p:nvPr/>
        </p:nvSpPr>
        <p:spPr>
          <a:xfrm>
            <a:off x="242316" y="603504"/>
            <a:ext cx="8138160" cy="457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91440" rIns="91440" bIns="91440" anchor="t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400"/>
              </a:spcAft>
              <a:buNone/>
            </a:pPr>
            <a:r>
              <a:rPr lang="en-GB" sz="1600" dirty="0">
                <a:solidFill>
                  <a:srgbClr val="1F2937"/>
                </a:solidFill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 xml:space="preserve">Brief description: how ShelfSense uses Firebase, Firestore, Cloud Run and Gemini</a:t>
            </a:r>
          </a:p>
        </p:txBody>
      </p:sp>
      <p:sp>
        <p:nvSpPr>
          <p:cNvPr id="1088" name="Card 1088"/>
          <p:cNvSpPr txBox="1"/>
          <p:nvPr/>
        </p:nvSpPr>
        <p:spPr>
          <a:xfrm>
            <a:off x="347472" y="1234440"/>
            <a:ext cx="4114800" cy="1600200"/>
          </a:xfrm>
          <a:prstGeom prst="roundRect">
            <a:avLst>
              <a:gd name="adj" fmla="val 6000"/>
            </a:avLst>
          </a:prstGeom>
          <a:solidFill>
            <a:srgbClr val="E6F4F1"/>
          </a:solidFill>
          <a:ln>
            <a:noFill/>
          </a:ln>
        </p:spPr>
        <p:txBody>
          <a:bodyPr wrap="square" lIns="109728" tIns="109728" rIns="109728" bIns="109728" anchor="t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400"/>
              </a:spcAft>
              <a:buNone/>
            </a:pPr>
            <a:r>
              <a:rPr lang="en-GB" sz="1300" dirty="0">
                <a:solidFill>
                  <a:srgbClr val="1F2937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 xml:space="preserve">Gemini</a:t>
            </a:r>
          </a:p>
          <a:p>
            <a:pPr marL="0" indent="0" algn="l">
              <a:spcBef>
                <a:spcPts val="0"/>
              </a:spcBef>
              <a:spcAft>
                <a:spcPts val="300"/>
              </a:spcAft>
              <a:buNone/>
            </a:pPr>
            <a:r>
              <a:rPr lang="en-GB" sz="1100" dirty="0">
                <a:solidFill>
                  <a:srgbClr val="5B6474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 xml:space="preserve">Gemini 3 Flash on Vertex AI watches each store clip and returns per-zone visitors, stops, reaches, dwell, age bands and events as schema-checked JSON. It also answers questions grounded on store data and writes the weekly summary.</a:t>
            </a:r>
          </a:p>
        </p:txBody>
      </p:sp>
      <p:sp>
        <p:nvSpPr>
          <p:cNvPr id="1089" name="Card 1089"/>
          <p:cNvSpPr txBox="1"/>
          <p:nvPr/>
        </p:nvSpPr>
        <p:spPr>
          <a:xfrm>
            <a:off x="4681728" y="1234440"/>
            <a:ext cx="4114800" cy="1600200"/>
          </a:xfrm>
          <a:prstGeom prst="roundRect">
            <a:avLst>
              <a:gd name="adj" fmla="val 6000"/>
            </a:avLst>
          </a:prstGeom>
          <a:solidFill>
            <a:srgbClr val="F5F7F9"/>
          </a:solidFill>
          <a:ln>
            <a:noFill/>
          </a:ln>
        </p:spPr>
        <p:txBody>
          <a:bodyPr wrap="square" lIns="109728" tIns="109728" rIns="109728" bIns="109728" anchor="t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400"/>
              </a:spcAft>
              <a:buNone/>
            </a:pPr>
            <a:r>
              <a:rPr lang="en-GB" sz="1300" dirty="0">
                <a:solidFill>
                  <a:srgbClr val="1F2937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 xml:space="preserve">Cloud Run</a:t>
            </a:r>
          </a:p>
          <a:p>
            <a:pPr marL="0" indent="0" algn="l">
              <a:spcBef>
                <a:spcPts val="0"/>
              </a:spcBef>
              <a:spcAft>
                <a:spcPts val="300"/>
              </a:spcAft>
              <a:buNone/>
            </a:pPr>
            <a:r>
              <a:rPr lang="en-GB" sz="1100" dirty="0">
                <a:solidFill>
                  <a:srgbClr val="5B6474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 xml:space="preserve">Our FastAPI service runs on Cloud Run: it accepts clips, calls Gemini, writes results, computes the Shelf Value Index and prices, and serves the dashboard's API.</a:t>
            </a:r>
          </a:p>
        </p:txBody>
      </p:sp>
      <p:sp>
        <p:nvSpPr>
          <p:cNvPr id="1090" name="Card 1090"/>
          <p:cNvSpPr txBox="1"/>
          <p:nvPr/>
        </p:nvSpPr>
        <p:spPr>
          <a:xfrm>
            <a:off x="347472" y="2999232"/>
            <a:ext cx="4114800" cy="1600200"/>
          </a:xfrm>
          <a:prstGeom prst="roundRect">
            <a:avLst>
              <a:gd name="adj" fmla="val 6000"/>
            </a:avLst>
          </a:prstGeom>
          <a:solidFill>
            <a:srgbClr val="F5F7F9"/>
          </a:solidFill>
          <a:ln>
            <a:noFill/>
          </a:ln>
        </p:spPr>
        <p:txBody>
          <a:bodyPr wrap="square" lIns="109728" tIns="109728" rIns="109728" bIns="109728" anchor="t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400"/>
              </a:spcAft>
              <a:buNone/>
            </a:pPr>
            <a:r>
              <a:rPr lang="en-GB" sz="1300" dirty="0">
                <a:solidFill>
                  <a:srgbClr val="1F2937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 xml:space="preserve">Firestore</a:t>
            </a:r>
          </a:p>
          <a:p>
            <a:pPr marL="0" indent="0" algn="l">
              <a:spcBef>
                <a:spcPts val="0"/>
              </a:spcBef>
              <a:spcAft>
                <a:spcPts val="300"/>
              </a:spcAft>
              <a:buNone/>
            </a:pPr>
            <a:r>
              <a:rPr lang="en-GB" sz="1100" dirty="0">
                <a:solidFill>
                  <a:srgbClr val="5B6474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 xml:space="preserve">Firestore holds the store model (units, cameras), hourly attention buckets from simulated history and live Gemini runs, every analysis and question. Security rules deny direct client access.</a:t>
            </a:r>
          </a:p>
        </p:txBody>
      </p:sp>
      <p:sp>
        <p:nvSpPr>
          <p:cNvPr id="1091" name="Card 1091"/>
          <p:cNvSpPr txBox="1"/>
          <p:nvPr/>
        </p:nvSpPr>
        <p:spPr>
          <a:xfrm>
            <a:off x="4681728" y="2999232"/>
            <a:ext cx="4114800" cy="1600200"/>
          </a:xfrm>
          <a:prstGeom prst="roundRect">
            <a:avLst>
              <a:gd name="adj" fmla="val 6000"/>
            </a:avLst>
          </a:prstGeom>
          <a:solidFill>
            <a:srgbClr val="E6F4F1"/>
          </a:solidFill>
          <a:ln>
            <a:noFill/>
          </a:ln>
        </p:spPr>
        <p:txBody>
          <a:bodyPr wrap="square" lIns="109728" tIns="109728" rIns="109728" bIns="109728" anchor="t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400"/>
              </a:spcAft>
              <a:buNone/>
            </a:pPr>
            <a:r>
              <a:rPr lang="en-GB" sz="1300" dirty="0">
                <a:solidFill>
                  <a:srgbClr val="1F2937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 xml:space="preserve">Firebase</a:t>
            </a:r>
          </a:p>
          <a:p>
            <a:pPr marL="0" indent="0" algn="l">
              <a:spcBef>
                <a:spcPts val="0"/>
              </a:spcBef>
              <a:spcAft>
                <a:spcPts val="300"/>
              </a:spcAft>
              <a:buNone/>
            </a:pPr>
            <a:r>
              <a:rPr lang="en-GB" sz="1100" dirty="0">
                <a:solidFill>
                  <a:srgbClr val="5B6474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 xml:space="preserve">Firebase Hosting serves the dashboard at shelfsense-demo.web.app and rewrites /api/** to Cloud Run, so the whole product runs on one origin.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1" name="Google Shape;171;p28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28" title="Frame 145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0"/>
            <a:ext cx="9144000" cy="51435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
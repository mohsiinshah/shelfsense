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0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shelfsense1.png"/><Relationship Id="rId6" Type="http://schemas.openxmlformats.org/officeDocument/2006/relationships/image" Target="../media/shelfsense2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shelfsens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shelfsense4.png"/><Relationship Id="rId6" Type="http://schemas.openxmlformats.org/officeDocument/2006/relationships/image" Target="../media/shelfsense5.png"/><Relationship Id="rId7" Type="http://schemas.openxmlformats.org/officeDocument/2006/relationships/image" Target="../media/shelfsense6.png"/><Relationship Id="rId8" Type="http://schemas.openxmlformats.org/officeDocument/2006/relationships/image" Target="../media/shelfsens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MohsiinShah/ShelfSense" TargetMode="External"/><Relationship Id="rId6" Type="http://schemas.openxmlformats.org/officeDocument/2006/relationships/hyperlink" Target="https://youtu.be/9HP-f7Th4XY" TargetMode="External"/><Relationship Id="rId7" Type="http://schemas.openxmlformats.org/officeDocument/2006/relationships/hyperlink" Target="https://shelfsense-demo.web.app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Shelf space is priced by position, not by how many shoppers actually see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01" name="Idea 1001"/>
          <p:cNvSpPr txBox="1"/>
          <p:nvPr/>
        </p:nvSpPr>
        <p:spPr>
          <a:xfrm>
            <a:off x="347472" y="1188720"/>
            <a:ext cx="5074920" cy="3566160"/>
          </a:xfrm>
          <a:prstGeom prst="rect">
            <a:avLst/>
          </a:prstGeom>
          <a:noFill/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ShelfSense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0F766E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AI that turns a store's existing CCTV into a price tag for every shelf.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Brands pay retailers for end-caps, eye-level slots and promotional bays, but that space is priced by position and negotiation. A shelf passed by 2,000 shoppers a day can cost the same as one passed by 200.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ShelfSense sends store camera clips to Gemini, which measures for every shelf zone who walks past, who stops, who reaches for a product, how long they stay and their approximate age band. Those counts become a Shelf Value Index (0–100) and a suggested monthly rent. An AI assistant answers questions like “Which shelf reaches the most 18–35 shoppers on weekend evenings?”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Live today: </a:t>
            </a:r>
            <a:r>
              <a:rPr lang="en-GB" sz="1100" dirty="0">
                <a:solidFill>
                  <a:srgbClr val="0F766E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https://shelfsense-demo.web.app</a:t>
            </a:r>
          </a:p>
        </p:txBody>
      </p:sp>
      <p:sp>
        <p:nvSpPr>
          <p:cNvPr id="1002" name="Panel 1002"/>
          <p:cNvSpPr txBox="1"/>
          <p:nvPr/>
        </p:nvSpPr>
        <p:spPr>
          <a:xfrm>
            <a:off x="5715000" y="1188720"/>
            <a:ext cx="3081528" cy="3566160"/>
          </a:xfrm>
          <a:prstGeom prst="roundRect">
            <a:avLst>
              <a:gd name="adj" fmla="val 5000"/>
            </a:avLst>
          </a:prstGeom>
          <a:solidFill>
            <a:srgbClr val="E6F4F1"/>
          </a:solidFill>
          <a:ln>
            <a:noFill/>
          </a:ln>
        </p:spPr>
        <p:txBody>
          <a:bodyPr wrap="square" lIns="73152" tIns="73152" rIns="73152" bIns="73152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/>
            </a:r>
          </a:p>
        </p:txBody>
      </p:sp>
      <p:sp>
        <p:nvSpPr>
          <p:cNvPr id="1003" name="Stat 1003"/>
          <p:cNvSpPr txBox="1"/>
          <p:nvPr/>
        </p:nvSpPr>
        <p:spPr>
          <a:xfrm>
            <a:off x="5943600" y="1325880"/>
            <a:ext cx="274320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5.2 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to analyse a store clip with Gemini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median of 12 live runs</a:t>
            </a:r>
          </a:p>
        </p:txBody>
      </p:sp>
      <p:sp>
        <p:nvSpPr>
          <p:cNvPr id="1004" name="Stat 1004"/>
          <p:cNvSpPr txBox="1"/>
          <p:nvPr/>
        </p:nvSpPr>
        <p:spPr>
          <a:xfrm>
            <a:off x="5943600" y="2423160"/>
            <a:ext cx="274320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4 → 12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cameras → priced shelf zones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in the live demo store</a:t>
            </a:r>
          </a:p>
        </p:txBody>
      </p:sp>
      <p:sp>
        <p:nvSpPr>
          <p:cNvPr id="1005" name="Stat 1005"/>
          <p:cNvSpPr txBox="1"/>
          <p:nvPr/>
        </p:nvSpPr>
        <p:spPr>
          <a:xfrm>
            <a:off x="5943600" y="3520440"/>
            <a:ext cx="274320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6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faces or identities stored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only anonymous counts reach Firestore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6" name="Title 1006"/>
          <p:cNvSpPr txBox="1"/>
          <p:nvPr/>
        </p:nvSpPr>
        <p:spPr>
          <a:xfrm>
            <a:off x="242316" y="603504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6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Opportunities</a:t>
            </a:r>
          </a:p>
        </p:txBody>
      </p:sp>
      <p:sp>
        <p:nvSpPr>
          <p:cNvPr id="1007" name="Card 1007"/>
          <p:cNvSpPr txBox="1"/>
          <p:nvPr/>
        </p:nvSpPr>
        <p:spPr>
          <a:xfrm>
            <a:off x="347472" y="1234440"/>
            <a:ext cx="2679192" cy="233172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HOW IS IT DIFFERENT?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Prices the shelf, not the store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Footfall counters (ShopperTrak, RetailNext) count the store entrance.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Shelf recognition (Trax) checks stock and planograms.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ShelfSense measures who sees each shelf and outputs a price.</a:t>
            </a:r>
          </a:p>
        </p:txBody>
      </p:sp>
      <p:sp>
        <p:nvSpPr>
          <p:cNvPr id="1008" name="Card 1008"/>
          <p:cNvSpPr txBox="1"/>
          <p:nvPr/>
        </p:nvSpPr>
        <p:spPr>
          <a:xfrm>
            <a:off x="3246120" y="1234440"/>
            <a:ext cx="2679192" cy="233172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HOW DOES IT SOLVE IT?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Attention becomes a number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Gemini turns camera footage into per-zone visitors, stops, reaches, dwell and age mix.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The SVI blends them; rent = base rate × SVI ÷ store median.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Brands get proof of what a placement delivered.</a:t>
            </a:r>
          </a:p>
        </p:txBody>
      </p:sp>
      <p:sp>
        <p:nvSpPr>
          <p:cNvPr id="1009" name="Card 1009"/>
          <p:cNvSpPr txBox="1"/>
          <p:nvPr/>
        </p:nvSpPr>
        <p:spPr>
          <a:xfrm>
            <a:off x="6144768" y="1234440"/>
            <a:ext cx="2679192" cy="233172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USP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Existing cameras, privacy-first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No new hardware for the prototype: any store clip works.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Audience-aware pricing: the same shelf is worth more to the brand whose shoppers walk past it.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Only anonymous counts are kept; video is deleted after analysis.</a:t>
            </a:r>
          </a:p>
        </p:txBody>
      </p:sp>
      <p:sp>
        <p:nvSpPr>
          <p:cNvPr id="1010" name="Market 1010"/>
          <p:cNvSpPr txBox="1"/>
          <p:nvPr/>
        </p:nvSpPr>
        <p:spPr>
          <a:xfrm>
            <a:off x="347472" y="3730752"/>
            <a:ext cx="8449055" cy="77724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</p:spPr>
        <p:txBody>
          <a:bodyPr wrap="square" lIns="128016" tIns="128016" rIns="128016" bIns="128016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Market  </a:t>
            </a:r>
            <a:r>
              <a:rPr lang="en-GB" sz="105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Modern retail chains in Pakistan (hypermarkets, supermarkets, pharmacies) and the FMCG brands that rent their shelves.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Model  </a:t>
            </a:r>
            <a:r>
              <a:rPr lang="en-GB" sz="1050" dirty="0">
                <a:solidFill>
                  <a:srgbClr val="1F2937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Retailers pay a per-store subscription to price their space; brands pay for reach and audience reports on their placements.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11" name="Card 1011"/>
          <p:cNvSpPr txBox="1"/>
          <p:nvPr/>
        </p:nvSpPr>
        <p:spPr>
          <a:xfrm>
            <a:off x="347472" y="1234440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01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Video → shelf metrics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Gemini 3 Flash watches a clip and returns visitors, stops, reaches, dwell, age bands and a timestamped event log per zone.</a:t>
            </a:r>
          </a:p>
        </p:txBody>
      </p:sp>
      <p:sp>
        <p:nvSpPr>
          <p:cNvPr id="1012" name="Card 1012"/>
          <p:cNvSpPr txBox="1"/>
          <p:nvPr/>
        </p:nvSpPr>
        <p:spPr>
          <a:xfrm>
            <a:off x="3246120" y="1234440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02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Shelf Value Index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0.40 footfall + 0.25 stop rate + 0.20 reach + 0.15 dwell, robust-normalised within the store.</a:t>
            </a:r>
          </a:p>
        </p:txBody>
      </p:sp>
      <p:sp>
        <p:nvSpPr>
          <p:cNvPr id="1013" name="Card 1013"/>
          <p:cNvSpPr txBox="1"/>
          <p:nvPr/>
        </p:nvSpPr>
        <p:spPr>
          <a:xfrm>
            <a:off x="6144768" y="1234440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03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Suggested rent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Base rate × SVI ÷ store median SVI, with a 40% floor. Sortable ranking with CSV export.</a:t>
            </a:r>
          </a:p>
        </p:txBody>
      </p:sp>
      <p:sp>
        <p:nvSpPr>
          <p:cNvPr id="1014" name="Card 1014"/>
          <p:cNvSpPr txBox="1"/>
          <p:nvPr/>
        </p:nvSpPr>
        <p:spPr>
          <a:xfrm>
            <a:off x="347472" y="2990088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04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Brand audience view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AudienceFit re-weights every shelf by how well its shoppers match a brand's target age group.</a:t>
            </a:r>
          </a:p>
        </p:txBody>
      </p:sp>
      <p:sp>
        <p:nvSpPr>
          <p:cNvPr id="1015" name="Card 1015"/>
          <p:cNvSpPr txBox="1"/>
          <p:nvPr/>
        </p:nvSpPr>
        <p:spPr>
          <a:xfrm>
            <a:off x="3246120" y="2990088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05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Ask ShelfSense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Plain-language questions answered by Gemini from Firestore data only, citing shelf ids.</a:t>
            </a:r>
          </a:p>
        </p:txBody>
      </p:sp>
      <p:sp>
        <p:nvSpPr>
          <p:cNvPr id="1016" name="Card 1016"/>
          <p:cNvSpPr txBox="1"/>
          <p:nvPr/>
        </p:nvSpPr>
        <p:spPr>
          <a:xfrm>
            <a:off x="6144768" y="2990088"/>
            <a:ext cx="2679192" cy="157276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06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Floor heatmap &amp; insights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Shelves coloured by any metric, hour × weekday heatmaps, and a weekly summary written by Gemini.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17" name="Step 1017"/>
          <p:cNvSpPr txBox="1"/>
          <p:nvPr/>
        </p:nvSpPr>
        <p:spPr>
          <a:xfrm>
            <a:off x="347472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1  Capture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Store camera clip, or upload</a:t>
            </a:r>
          </a:p>
        </p:txBody>
      </p:sp>
      <p:sp>
        <p:nvSpPr>
          <p:cNvPr id="1018" name="Arrow 1018"/>
          <p:cNvSpPr/>
          <p:nvPr/>
        </p:nvSpPr>
        <p:spPr>
          <a:xfrm>
            <a:off x="1581912" y="1618488"/>
            <a:ext cx="155448" cy="146304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1019" name="Step 1019"/>
          <p:cNvSpPr txBox="1"/>
          <p:nvPr/>
        </p:nvSpPr>
        <p:spPr>
          <a:xfrm>
            <a:off x="1773936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  Cloud Run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API stores clip, builds zone prompt</a:t>
            </a:r>
          </a:p>
        </p:txBody>
      </p:sp>
      <p:sp>
        <p:nvSpPr>
          <p:cNvPr id="1020" name="Arrow 1020"/>
          <p:cNvSpPr/>
          <p:nvPr/>
        </p:nvSpPr>
        <p:spPr>
          <a:xfrm>
            <a:off x="3008376" y="1618488"/>
            <a:ext cx="155448" cy="146304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1021" name="Step 1021"/>
          <p:cNvSpPr txBox="1"/>
          <p:nvPr/>
        </p:nvSpPr>
        <p:spPr>
          <a:xfrm>
            <a:off x="3200400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3  Gemini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Counts per zone, JSON schema</a:t>
            </a:r>
          </a:p>
        </p:txBody>
      </p:sp>
      <p:sp>
        <p:nvSpPr>
          <p:cNvPr id="1022" name="Arrow 1022"/>
          <p:cNvSpPr/>
          <p:nvPr/>
        </p:nvSpPr>
        <p:spPr>
          <a:xfrm>
            <a:off x="4434840" y="1618488"/>
            <a:ext cx="155448" cy="146304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1023" name="Step 1023"/>
          <p:cNvSpPr txBox="1"/>
          <p:nvPr/>
        </p:nvSpPr>
        <p:spPr>
          <a:xfrm>
            <a:off x="4626864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4  Firestore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Hourly buckets: seed + live</a:t>
            </a:r>
          </a:p>
        </p:txBody>
      </p:sp>
      <p:sp>
        <p:nvSpPr>
          <p:cNvPr id="1024" name="Arrow 1024"/>
          <p:cNvSpPr/>
          <p:nvPr/>
        </p:nvSpPr>
        <p:spPr>
          <a:xfrm>
            <a:off x="5861303" y="1618488"/>
            <a:ext cx="155448" cy="146304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1025" name="Step 1025"/>
          <p:cNvSpPr txBox="1"/>
          <p:nvPr/>
        </p:nvSpPr>
        <p:spPr>
          <a:xfrm>
            <a:off x="6053328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5  Score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SVI, audience fit, rent</a:t>
            </a:r>
          </a:p>
        </p:txBody>
      </p:sp>
      <p:sp>
        <p:nvSpPr>
          <p:cNvPr id="1026" name="Arrow 1026"/>
          <p:cNvSpPr/>
          <p:nvPr/>
        </p:nvSpPr>
        <p:spPr>
          <a:xfrm>
            <a:off x="7287768" y="1618488"/>
            <a:ext cx="155448" cy="146304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</p:sp>
      <p:sp>
        <p:nvSpPr>
          <p:cNvPr id="1027" name="Step 1027"/>
          <p:cNvSpPr txBox="1"/>
          <p:nvPr/>
        </p:nvSpPr>
        <p:spPr>
          <a:xfrm>
            <a:off x="7479792" y="1234440"/>
            <a:ext cx="1197864" cy="9144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txBody>
          <a:bodyPr wrap="square" lIns="82296" tIns="82296" rIns="82296" bIns="82296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6  Act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6F4F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Dashboard, chat, CSV</a:t>
            </a:r>
          </a:p>
        </p:txBody>
      </p:sp>
      <p:sp>
        <p:nvSpPr>
          <p:cNvPr id="1028" name="Label 1028"/>
          <p:cNvSpPr txBox="1"/>
          <p:nvPr/>
        </p:nvSpPr>
        <p:spPr>
          <a:xfrm>
            <a:off x="347472" y="2331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Use cases</a:t>
            </a:r>
          </a:p>
        </p:txBody>
      </p:sp>
      <p:sp>
        <p:nvSpPr>
          <p:cNvPr id="1029" name="Card 1029"/>
          <p:cNvSpPr txBox="1"/>
          <p:nvPr/>
        </p:nvSpPr>
        <p:spPr>
          <a:xfrm>
            <a:off x="347472" y="269748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Retailer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Price end-caps and bays from evidence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Staff the floor for real peaks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Re-plan layout from the heatmap</a:t>
            </a:r>
          </a:p>
        </p:txBody>
      </p:sp>
      <p:sp>
        <p:nvSpPr>
          <p:cNvPr id="1030" name="Card 1030"/>
          <p:cNvSpPr txBox="1"/>
          <p:nvPr/>
        </p:nvSpPr>
        <p:spPr>
          <a:xfrm>
            <a:off x="3246120" y="269748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FMCG brand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Choose shelves that reach its audience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Verify reach and attention after launch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Compare placements across stores</a:t>
            </a:r>
          </a:p>
        </p:txBody>
      </p:sp>
      <p:sp>
        <p:nvSpPr>
          <p:cNvPr id="1031" name="Card 1031"/>
          <p:cNvSpPr txBox="1"/>
          <p:nvPr/>
        </p:nvSpPr>
        <p:spPr>
          <a:xfrm>
            <a:off x="6144768" y="2697480"/>
            <a:ext cx="2679192" cy="15544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Store manager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Ask questions in plain language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Weekly summary with one action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Spot under-priced shelves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32" name="Floor heatmap + shelf detail: how each SVI is built 1032" descr="Floor heatmap + shelf detail: how each SVI is buil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283017"/>
            <a:ext cx="4087367" cy="2554604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33" name="Caption 1033"/>
          <p:cNvSpPr txBox="1"/>
          <p:nvPr/>
        </p:nvSpPr>
        <p:spPr>
          <a:xfrm>
            <a:off x="347472" y="4005072"/>
            <a:ext cx="4087367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Floor heatmap + shelf detail: how each SVI is built</a:t>
            </a:r>
          </a:p>
        </p:txBody>
      </p:sp>
      <p:pic>
        <p:nvPicPr>
          <p:cNvPr id="1034" name="Shelf pricing in a brand's view (ages 18–35) 1034" descr="Shelf pricing in a brand's view (ages 18–35)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59" y="1283017"/>
            <a:ext cx="4087367" cy="2554604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35" name="Caption 1035"/>
          <p:cNvSpPr txBox="1"/>
          <p:nvPr/>
        </p:nvSpPr>
        <p:spPr>
          <a:xfrm>
            <a:off x="4709159" y="4005072"/>
            <a:ext cx="4087367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Shelf pricing in a brand's view (ages 18–35)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36" name="ShelfSense architecture diagram 1036" descr="ShelfSense architecture 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071" y="1115568"/>
            <a:ext cx="7347857" cy="3429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37" name="Card 1037"/>
          <p:cNvSpPr txBox="1"/>
          <p:nvPr/>
        </p:nvSpPr>
        <p:spPr>
          <a:xfrm>
            <a:off x="347472" y="123444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Gemini 3 Flash · Vertex AI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Video understanding with structured JSON output; grounded Q&amp;A; weekly summary</a:t>
            </a:r>
          </a:p>
        </p:txBody>
      </p:sp>
      <p:sp>
        <p:nvSpPr>
          <p:cNvPr id="1038" name="Card 1038"/>
          <p:cNvSpPr txBox="1"/>
          <p:nvPr/>
        </p:nvSpPr>
        <p:spPr>
          <a:xfrm>
            <a:off x="2487168" y="123444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Cloud Run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FastAPI service in a container, autoscaling, dedicated service account</a:t>
            </a:r>
          </a:p>
        </p:txBody>
      </p:sp>
      <p:sp>
        <p:nvSpPr>
          <p:cNvPr id="1039" name="Card 1039"/>
          <p:cNvSpPr txBox="1"/>
          <p:nvPr/>
        </p:nvSpPr>
        <p:spPr>
          <a:xfrm>
            <a:off x="4626864" y="123444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Firestore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System of record: units, cameras, hourly buckets, analyses, questions</a:t>
            </a:r>
          </a:p>
        </p:txBody>
      </p:sp>
      <p:sp>
        <p:nvSpPr>
          <p:cNvPr id="1040" name="Card 1040"/>
          <p:cNvSpPr txBox="1"/>
          <p:nvPr/>
        </p:nvSpPr>
        <p:spPr>
          <a:xfrm>
            <a:off x="6766560" y="123444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Firebase Hosting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Dashboard + /api/** rewrite to Cloud Run on one origin</a:t>
            </a:r>
          </a:p>
        </p:txBody>
      </p:sp>
      <p:sp>
        <p:nvSpPr>
          <p:cNvPr id="1041" name="Card 1041"/>
          <p:cNvSpPr txBox="1"/>
          <p:nvPr/>
        </p:nvSpPr>
        <p:spPr>
          <a:xfrm>
            <a:off x="347472" y="288036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Cloud Storage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Video bucket; uploads deleted after analysis + 1-day lifecycle</a:t>
            </a:r>
          </a:p>
        </p:txBody>
      </p:sp>
      <p:sp>
        <p:nvSpPr>
          <p:cNvPr id="1042" name="Card 1042"/>
          <p:cNvSpPr txBox="1"/>
          <p:nvPr/>
        </p:nvSpPr>
        <p:spPr>
          <a:xfrm>
            <a:off x="2487168" y="288036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Cloud Build · Artifact Registry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Source-to-container builds for every deploy</a:t>
            </a:r>
          </a:p>
        </p:txBody>
      </p:sp>
      <p:sp>
        <p:nvSpPr>
          <p:cNvPr id="1043" name="Card 1043"/>
          <p:cNvSpPr txBox="1"/>
          <p:nvPr/>
        </p:nvSpPr>
        <p:spPr>
          <a:xfrm>
            <a:off x="4626864" y="288036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Python · FastAPI · Pydantic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API, SVI engine, Gemini response schema</a:t>
            </a:r>
          </a:p>
        </p:txBody>
      </p:sp>
      <p:sp>
        <p:nvSpPr>
          <p:cNvPr id="1044" name="Card 1044"/>
          <p:cNvSpPr txBox="1"/>
          <p:nvPr/>
        </p:nvSpPr>
        <p:spPr>
          <a:xfrm>
            <a:off x="6766560" y="2880360"/>
            <a:ext cx="2029968" cy="1481328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JavaScript · Plotly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Dashboard charts, floor plan SVG, chat UI</a:t>
            </a:r>
          </a:p>
        </p:txBody>
      </p:sp>
      <p:sp>
        <p:nvSpPr>
          <p:cNvPr id="1045" name="Note 1045"/>
          <p:cNvSpPr txBox="1"/>
          <p:nvPr/>
        </p:nvSpPr>
        <p:spPr>
          <a:xfrm>
            <a:off x="347472" y="45262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Shaded: the four required technologies. Demo video narration uses Cloud Text-to-Speech.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6" name="Cell 1046"/>
          <p:cNvSpPr txBox="1"/>
          <p:nvPr/>
        </p:nvSpPr>
        <p:spPr>
          <a:xfrm>
            <a:off x="347472" y="1234440"/>
            <a:ext cx="2203704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Item</a:t>
            </a:r>
          </a:p>
        </p:txBody>
      </p:sp>
      <p:sp>
        <p:nvSpPr>
          <p:cNvPr id="1047" name="Cell 1047"/>
          <p:cNvSpPr txBox="1"/>
          <p:nvPr/>
        </p:nvSpPr>
        <p:spPr>
          <a:xfrm>
            <a:off x="2587752" y="1234440"/>
            <a:ext cx="2980944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Prototype (today)</a:t>
            </a:r>
          </a:p>
        </p:txBody>
      </p:sp>
      <p:sp>
        <p:nvSpPr>
          <p:cNvPr id="1048" name="Cell 1048"/>
          <p:cNvSpPr txBox="1"/>
          <p:nvPr/>
        </p:nvSpPr>
        <p:spPr>
          <a:xfrm>
            <a:off x="5605272" y="1234440"/>
            <a:ext cx="3154680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Pilot store (estimate)</a:t>
            </a:r>
          </a:p>
        </p:txBody>
      </p:sp>
      <p:sp>
        <p:nvSpPr>
          <p:cNvPr id="1049" name="Cell 1049"/>
          <p:cNvSpPr txBox="1"/>
          <p:nvPr/>
        </p:nvSpPr>
        <p:spPr>
          <a:xfrm>
            <a:off x="347472" y="1728216"/>
            <a:ext cx="220370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Gemini video analysis</a:t>
            </a:r>
          </a:p>
        </p:txBody>
      </p:sp>
      <p:sp>
        <p:nvSpPr>
          <p:cNvPr id="1050" name="Cell 1050"/>
          <p:cNvSpPr txBox="1"/>
          <p:nvPr/>
        </p:nvSpPr>
        <p:spPr>
          <a:xfrm>
            <a:off x="2587752" y="1728216"/>
            <a:ext cx="298094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≈ US$0.0028 per 15 s clip</a:t>
            </a:r>
          </a:p>
        </p:txBody>
      </p:sp>
      <p:sp>
        <p:nvSpPr>
          <p:cNvPr id="1051" name="Cell 1051"/>
          <p:cNvSpPr txBox="1"/>
          <p:nvPr/>
        </p:nvSpPr>
        <p:spPr>
          <a:xfrm>
            <a:off x="5605272" y="1728216"/>
            <a:ext cx="3154680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Edge detection; Gemini for audits + Q&amp;A</a:t>
            </a:r>
          </a:p>
        </p:txBody>
      </p:sp>
      <p:sp>
        <p:nvSpPr>
          <p:cNvPr id="1052" name="Cell 1052"/>
          <p:cNvSpPr txBox="1"/>
          <p:nvPr/>
        </p:nvSpPr>
        <p:spPr>
          <a:xfrm>
            <a:off x="347472" y="2221992"/>
            <a:ext cx="2203704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Cloud Run API</a:t>
            </a:r>
          </a:p>
        </p:txBody>
      </p:sp>
      <p:sp>
        <p:nvSpPr>
          <p:cNvPr id="1053" name="Cell 1053"/>
          <p:cNvSpPr txBox="1"/>
          <p:nvPr/>
        </p:nvSpPr>
        <p:spPr>
          <a:xfrm>
            <a:off x="2587752" y="2221992"/>
            <a:ext cx="2980944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≈ US$10 / month (1 warm instance)</a:t>
            </a:r>
          </a:p>
        </p:txBody>
      </p:sp>
      <p:sp>
        <p:nvSpPr>
          <p:cNvPr id="1054" name="Cell 1054"/>
          <p:cNvSpPr txBox="1"/>
          <p:nvPr/>
        </p:nvSpPr>
        <p:spPr>
          <a:xfrm>
            <a:off x="5605272" y="2221992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≈ US$10–20 / month shared</a:t>
            </a:r>
          </a:p>
        </p:txBody>
      </p:sp>
      <p:sp>
        <p:nvSpPr>
          <p:cNvPr id="1055" name="Cell 1055"/>
          <p:cNvSpPr txBox="1"/>
          <p:nvPr/>
        </p:nvSpPr>
        <p:spPr>
          <a:xfrm>
            <a:off x="347472" y="2715768"/>
            <a:ext cx="220370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Firestore + Hosting + Storage</a:t>
            </a:r>
          </a:p>
        </p:txBody>
      </p:sp>
      <p:sp>
        <p:nvSpPr>
          <p:cNvPr id="1056" name="Cell 1056"/>
          <p:cNvSpPr txBox="1"/>
          <p:nvPr/>
        </p:nvSpPr>
        <p:spPr>
          <a:xfrm>
            <a:off x="2587752" y="2715768"/>
            <a:ext cx="298094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Within free tier</a:t>
            </a:r>
          </a:p>
        </p:txBody>
      </p:sp>
      <p:sp>
        <p:nvSpPr>
          <p:cNvPr id="1057" name="Cell 1057"/>
          <p:cNvSpPr txBox="1"/>
          <p:nvPr/>
        </p:nvSpPr>
        <p:spPr>
          <a:xfrm>
            <a:off x="5605272" y="2715768"/>
            <a:ext cx="3154680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&lt; US$5 / store / month</a:t>
            </a:r>
          </a:p>
        </p:txBody>
      </p:sp>
      <p:sp>
        <p:nvSpPr>
          <p:cNvPr id="1058" name="Cell 1058"/>
          <p:cNvSpPr txBox="1"/>
          <p:nvPr/>
        </p:nvSpPr>
        <p:spPr>
          <a:xfrm>
            <a:off x="347472" y="3209544"/>
            <a:ext cx="2203704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Edge device</a:t>
            </a:r>
          </a:p>
        </p:txBody>
      </p:sp>
      <p:sp>
        <p:nvSpPr>
          <p:cNvPr id="1059" name="Cell 1059"/>
          <p:cNvSpPr txBox="1"/>
          <p:nvPr/>
        </p:nvSpPr>
        <p:spPr>
          <a:xfrm>
            <a:off x="2587752" y="3209544"/>
            <a:ext cx="2980944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Not needed (clips)</a:t>
            </a:r>
          </a:p>
        </p:txBody>
      </p:sp>
      <p:sp>
        <p:nvSpPr>
          <p:cNvPr id="1060" name="Cell 1060"/>
          <p:cNvSpPr txBox="1"/>
          <p:nvPr/>
        </p:nvSpPr>
        <p:spPr>
          <a:xfrm>
            <a:off x="5605272" y="3209544"/>
            <a:ext cx="3154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≈ US$250 one-time (Jetson Orin Nano class)</a:t>
            </a:r>
          </a:p>
        </p:txBody>
      </p:sp>
      <p:sp>
        <p:nvSpPr>
          <p:cNvPr id="1061" name="Cell 1061"/>
          <p:cNvSpPr txBox="1"/>
          <p:nvPr/>
        </p:nvSpPr>
        <p:spPr>
          <a:xfrm>
            <a:off x="347472" y="3703320"/>
            <a:ext cx="220370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Cameras</a:t>
            </a:r>
          </a:p>
        </p:txBody>
      </p:sp>
      <p:sp>
        <p:nvSpPr>
          <p:cNvPr id="1062" name="Cell 1062"/>
          <p:cNvSpPr txBox="1"/>
          <p:nvPr/>
        </p:nvSpPr>
        <p:spPr>
          <a:xfrm>
            <a:off x="2587752" y="3703320"/>
            <a:ext cx="2980944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Existing</a:t>
            </a:r>
          </a:p>
        </p:txBody>
      </p:sp>
      <p:sp>
        <p:nvSpPr>
          <p:cNvPr id="1063" name="Cell 1063"/>
          <p:cNvSpPr txBox="1"/>
          <p:nvPr/>
        </p:nvSpPr>
        <p:spPr>
          <a:xfrm>
            <a:off x="5605272" y="3703320"/>
            <a:ext cx="3154680" cy="4572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txBody>
          <a:bodyPr wrap="square" lIns="91440" tIns="91440" rIns="91440" bIns="9144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Existing IP cameras</a:t>
            </a:r>
          </a:p>
        </p:txBody>
      </p:sp>
      <p:sp>
        <p:nvSpPr>
          <p:cNvPr id="1064" name="Note 1064"/>
          <p:cNvSpPr txBox="1"/>
          <p:nvPr/>
        </p:nvSpPr>
        <p:spPr>
          <a:xfrm>
            <a:off x="347472" y="4270248"/>
            <a:ext cx="841248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9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Per-clip cost uses measured median tokens (2,020 in / 594 out) at Gemini 3 Flash list price (US$0.50 / US$3.00 per million). Other figures are estimates to be confirmed in a pilot. Because raw video never leaves the store in production, cloud cost stays small and flat per store.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65" name="Live analysis: Gemini counts per zone with a clickable event log 1065" descr="Live analysis: Gemini counts per zone with a clickable event lo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910" y="1143000"/>
            <a:ext cx="3405351" cy="1481328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66" name="Caption 1066"/>
          <p:cNvSpPr txBox="1"/>
          <p:nvPr/>
        </p:nvSpPr>
        <p:spPr>
          <a:xfrm>
            <a:off x="347472" y="2633472"/>
            <a:ext cx="4110227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Live analysis: Gemini counts per zone with a clickable event log</a:t>
            </a:r>
          </a:p>
        </p:txBody>
      </p:sp>
      <p:pic>
        <p:nvPicPr>
          <p:cNvPr id="1067" name="Overview: KPIs, Gemini weekly summary, footfall by hour 1067" descr="Overview: KPIs, Gemini weekly summary, footfall by ho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8738" y="1143000"/>
            <a:ext cx="3405351" cy="1481328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68" name="Caption 1068"/>
          <p:cNvSpPr txBox="1"/>
          <p:nvPr/>
        </p:nvSpPr>
        <p:spPr>
          <a:xfrm>
            <a:off x="4686299" y="2633472"/>
            <a:ext cx="4110227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Overview: KPIs, Gemini weekly summary, footfall by hour</a:t>
            </a:r>
          </a:p>
        </p:txBody>
      </p:sp>
      <p:pic>
        <p:nvPicPr>
          <p:cNvPr id="1069" name="Ask ShelfSense: grounded answers citing shelves 1069" descr="Ask ShelfSense: grounded answers citing shelv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910" y="2971800"/>
            <a:ext cx="3405351" cy="1481328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70" name="Caption 1070"/>
          <p:cNvSpPr txBox="1"/>
          <p:nvPr/>
        </p:nvSpPr>
        <p:spPr>
          <a:xfrm>
            <a:off x="347472" y="4462272"/>
            <a:ext cx="4110227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Ask ShelfSense: grounded answers citing shelves</a:t>
            </a:r>
          </a:p>
        </p:txBody>
      </p:sp>
      <p:pic>
        <p:nvPicPr>
          <p:cNvPr id="1071" name="Pricing table with audience fit 1071" descr="Pricing table with audience fi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38738" y="2971800"/>
            <a:ext cx="3405351" cy="1481328"/>
          </a:xfrm>
          <a:prstGeom prst="rect">
            <a:avLst/>
          </a:prstGeom>
          <a:ln w="9525">
            <a:solidFill>
              <a:srgbClr val="D9DEE4"/>
            </a:solidFill>
          </a:ln>
        </p:spPr>
      </p:pic>
      <p:sp>
        <p:nvSpPr>
          <p:cNvPr id="1072" name="Caption 1072"/>
          <p:cNvSpPr txBox="1"/>
          <p:nvPr/>
        </p:nvSpPr>
        <p:spPr>
          <a:xfrm>
            <a:off x="4686299" y="4462272"/>
            <a:ext cx="4110227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" tIns="9144" rIns="9144" bIns="9144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Pricing table with audience fit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73" name="Stat 1073"/>
          <p:cNvSpPr txBox="1"/>
          <p:nvPr/>
        </p:nvSpPr>
        <p:spPr>
          <a:xfrm>
            <a:off x="347472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5.2 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Gemini video analysis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median, end to end · worst 7.3 s</a:t>
            </a:r>
          </a:p>
        </p:txBody>
      </p:sp>
      <p:sp>
        <p:nvSpPr>
          <p:cNvPr id="1074" name="Stat 1074"/>
          <p:cNvSpPr txBox="1"/>
          <p:nvPr/>
        </p:nvSpPr>
        <p:spPr>
          <a:xfrm>
            <a:off x="2487168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2.8 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Ask ShelfSense answer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5 questions · worst 3.4 s</a:t>
            </a:r>
          </a:p>
        </p:txBody>
      </p:sp>
      <p:sp>
        <p:nvSpPr>
          <p:cNvPr id="1075" name="Stat 1075"/>
          <p:cNvSpPr txBox="1"/>
          <p:nvPr/>
        </p:nvSpPr>
        <p:spPr>
          <a:xfrm>
            <a:off x="4626864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0.78 s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Dashboard API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median /store response, 10 calls</a:t>
            </a:r>
          </a:p>
        </p:txBody>
      </p:sp>
      <p:sp>
        <p:nvSpPr>
          <p:cNvPr id="1076" name="Stat 1076"/>
          <p:cNvSpPr txBox="1"/>
          <p:nvPr/>
        </p:nvSpPr>
        <p:spPr>
          <a:xfrm>
            <a:off x="6766559" y="1188720"/>
            <a:ext cx="2011680" cy="114300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12 / 12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5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Schema-valid results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every video run parsed into the JSON schema</a:t>
            </a:r>
          </a:p>
        </p:txBody>
      </p:sp>
      <p:sp>
        <p:nvSpPr>
          <p:cNvPr id="1077" name="Consistency 1077"/>
          <p:cNvSpPr txBox="1"/>
          <p:nvPr/>
        </p:nvSpPr>
        <p:spPr>
          <a:xfrm>
            <a:off x="347472" y="2514600"/>
            <a:ext cx="4114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Consistency across repeated runs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Same clip, 3 runs each. Total people counted: produce hall [18, 18, 18], aisle 28 [12, 12, 12], aisle 6 [12, 12, 12], aisle 1 [3, 2, 2].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Per-zone counts vary most in the busiest zone (produce hall middle: 8–12 visitors).</a:t>
            </a:r>
          </a:p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≈ 2,020 input / 594 output tokens per 15 s clip.</a:t>
            </a:r>
          </a:p>
        </p:txBody>
      </p:sp>
      <p:sp>
        <p:nvSpPr>
          <p:cNvPr id="1078" name="Method 1078"/>
          <p:cNvSpPr txBox="1"/>
          <p:nvPr/>
        </p:nvSpPr>
        <p:spPr>
          <a:xfrm>
            <a:off x="4663440" y="2514600"/>
            <a:ext cx="4114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Method and limits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Measured on the live deployment (Firebase Hosting → Cloud Run → Vertex AI), 18 Oct 2026, scripts/benchmark.py in the repo.</a:t>
            </a:r>
          </a:p>
          <a:p>
            <a:pPr marL="171450" indent="-171450" algn="l">
              <a:spcBef>
                <a:spcPts val="0"/>
              </a:spcBef>
              <a:spcAft>
                <a:spcPts val="30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Count accuracy is not yet scored against hand labels. Next: the MERL Shopping dataset's labelled reach events, then a store pilot.</a:t>
            </a:r>
          </a:p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Model: gemini-3-flash-preview, low thinking, medium media resolution.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79" name="Card 1079"/>
          <p:cNvSpPr txBox="1"/>
          <p:nvPr/>
        </p:nvSpPr>
        <p:spPr>
          <a:xfrm>
            <a:off x="347472" y="1234440"/>
            <a:ext cx="2679192" cy="22402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PILOT · MONTHS 1–3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One chain, 3–5 stores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In-store edge box: detection + tracking on device, only counts leave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Calibrate SVI weights against POS data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Face blurring at the first step</a:t>
            </a:r>
          </a:p>
        </p:txBody>
      </p:sp>
      <p:sp>
        <p:nvSpPr>
          <p:cNvPr id="1080" name="Card 1080"/>
          <p:cNvSpPr txBox="1"/>
          <p:nvPr/>
        </p:nvSpPr>
        <p:spPr>
          <a:xfrm>
            <a:off x="3246120" y="1234440"/>
            <a:ext cx="2679192" cy="22402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PRODUCT · MONTHS 4–9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Multi-store platform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Firebase Auth with retailer / brand tenants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Brand portal and automated reach reports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Store-manager mobile app</a:t>
            </a:r>
          </a:p>
        </p:txBody>
      </p:sp>
      <p:sp>
        <p:nvSpPr>
          <p:cNvPr id="1081" name="Card 1081"/>
          <p:cNvSpPr txBox="1"/>
          <p:nvPr/>
        </p:nvSpPr>
        <p:spPr>
          <a:xfrm>
            <a:off x="6144768" y="1234440"/>
            <a:ext cx="2679192" cy="224028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85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SCALE · MONTHS 10–18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Marketplace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More chains, cross-chain brand benchmarks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Book shelf space at the suggested price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• Export to similar emerging markets</a:t>
            </a:r>
          </a:p>
        </p:txBody>
      </p:sp>
      <p:sp>
        <p:nvSpPr>
          <p:cNvPr id="1082" name="Note 1082"/>
          <p:cNvSpPr txBox="1"/>
          <p:nvPr/>
        </p:nvSpPr>
        <p:spPr>
          <a:xfrm>
            <a:off x="347472" y="3639312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norm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95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Privacy roadmap: no face images or embeddings, no tracking across days or stores, signage in store, and a DPIA before the pilot. We design to GDPR-style principles while Pakistan's data-protection bill is still a draft.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3" name="Title 1083"/>
          <p:cNvSpPr txBox="1"/>
          <p:nvPr/>
        </p:nvSpPr>
        <p:spPr>
          <a:xfrm>
            <a:off x="242316" y="603504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6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Provide links to your:</a:t>
            </a:r>
          </a:p>
        </p:txBody>
      </p:sp>
      <p:sp>
        <p:nvSpPr>
          <p:cNvPr id="1084" name="Link 1084"/>
          <p:cNvSpPr txBox="1"/>
          <p:nvPr/>
        </p:nvSpPr>
        <p:spPr>
          <a:xfrm>
            <a:off x="347472" y="1325880"/>
            <a:ext cx="8449056" cy="804672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>
            <a:noFill/>
          </a:ln>
        </p:spPr>
        <p:txBody>
          <a:bodyPr wrap="square" lIns="146304" tIns="146304" rIns="146304" bIns="146304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GitHub Public Repository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  <a:hlinkClick r:id="rId5"/>
              </a:rPr>
              <a:t xml:space="preserve">https://github.com/MohsiinShah/ShelfSense</a:t>
            </a:r>
          </a:p>
        </p:txBody>
      </p:sp>
      <p:sp>
        <p:nvSpPr>
          <p:cNvPr id="1085" name="Link 1085"/>
          <p:cNvSpPr txBox="1"/>
          <p:nvPr/>
        </p:nvSpPr>
        <p:spPr>
          <a:xfrm>
            <a:off x="347472" y="2313432"/>
            <a:ext cx="8449056" cy="804672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>
            <a:noFill/>
          </a:ln>
        </p:spPr>
        <p:txBody>
          <a:bodyPr wrap="square" lIns="146304" tIns="146304" rIns="146304" bIns="146304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Demo Video Link (3 Minutes)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  <a:hlinkClick r:id="rId6"/>
              </a:rPr>
              <a:t xml:space="preserve">https://youtu.be/9HP-f7Th4XY</a:t>
            </a:r>
          </a:p>
        </p:txBody>
      </p:sp>
      <p:sp>
        <p:nvSpPr>
          <p:cNvPr id="1086" name="Link 1086"/>
          <p:cNvSpPr txBox="1"/>
          <p:nvPr/>
        </p:nvSpPr>
        <p:spPr>
          <a:xfrm>
            <a:off x="347472" y="3300984"/>
            <a:ext cx="8449056" cy="804672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>
            <a:noFill/>
          </a:ln>
        </p:spPr>
        <p:txBody>
          <a:bodyPr wrap="square" lIns="146304" tIns="146304" rIns="146304" bIns="146304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Final Product Link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0F766E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  <a:hlinkClick r:id="rId7"/>
              </a:rPr>
              <a:t xml:space="preserve">https://shelfsense-demo.web.app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7" name="Title 1087"/>
          <p:cNvSpPr txBox="1"/>
          <p:nvPr/>
        </p:nvSpPr>
        <p:spPr>
          <a:xfrm>
            <a:off x="242316" y="603504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600" dirty="0">
                <a:solidFill>
                  <a:srgbClr val="1F2937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 xml:space="preserve">Brief description: how ShelfSense uses Firebase, Firestore, Cloud Run and Gemini</a:t>
            </a:r>
          </a:p>
        </p:txBody>
      </p:sp>
      <p:sp>
        <p:nvSpPr>
          <p:cNvPr id="1088" name="Card 1088"/>
          <p:cNvSpPr txBox="1"/>
          <p:nvPr/>
        </p:nvSpPr>
        <p:spPr>
          <a:xfrm>
            <a:off x="347472" y="1234440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Gemini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Gemini 3 Flash on Vertex AI watches each store clip and returns per-zone visitors, stops, reaches, dwell, age bands and events as schema-checked JSON. It also answers questions grounded on store data and writes the weekly summary.</a:t>
            </a:r>
          </a:p>
        </p:txBody>
      </p:sp>
      <p:sp>
        <p:nvSpPr>
          <p:cNvPr id="1089" name="Card 1089"/>
          <p:cNvSpPr txBox="1"/>
          <p:nvPr/>
        </p:nvSpPr>
        <p:spPr>
          <a:xfrm>
            <a:off x="4681728" y="1234440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Cloud Run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Our FastAPI service runs on Cloud Run: it accepts clips, calls Gemini, writes results, computes the Shelf Value Index and prices, and serves the dashboard's API.</a:t>
            </a:r>
          </a:p>
        </p:txBody>
      </p:sp>
      <p:sp>
        <p:nvSpPr>
          <p:cNvPr id="1090" name="Card 1090"/>
          <p:cNvSpPr txBox="1"/>
          <p:nvPr/>
        </p:nvSpPr>
        <p:spPr>
          <a:xfrm>
            <a:off x="347472" y="2999232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F5F7F9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Firestore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Firestore holds the store model (units, cameras), hourly attention buckets from simulated history and live Gemini runs, every analysis and question. Security rules deny direct client access.</a:t>
            </a:r>
          </a:p>
        </p:txBody>
      </p:sp>
      <p:sp>
        <p:nvSpPr>
          <p:cNvPr id="1091" name="Card 1091"/>
          <p:cNvSpPr txBox="1"/>
          <p:nvPr/>
        </p:nvSpPr>
        <p:spPr>
          <a:xfrm>
            <a:off x="4681728" y="2999232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E6F4F1"/>
          </a:solidFill>
          <a:ln>
            <a:noFill/>
          </a:ln>
        </p:spPr>
        <p:txBody>
          <a:bodyPr wrap="square" lIns="109728" tIns="109728" rIns="109728" bIns="109728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300" dirty="0">
                <a:solidFill>
                  <a:srgbClr val="1F2937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Firebase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00" dirty="0">
                <a:solidFill>
                  <a:srgbClr val="5B647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Firebase Hosting serves the dashboard at shelfsense-demo.web.app and rewrites /api/** to Cloud Run, so the whole product runs on one origin.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